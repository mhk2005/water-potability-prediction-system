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74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565C0"/>
          </a:solidFill>
          <a:ln/>
        </p:spPr>
      </p:sp>
      <p:sp>
        <p:nvSpPr>
          <p:cNvPr id="3" name="Shape 1"/>
          <p:cNvSpPr/>
          <p:nvPr/>
        </p:nvSpPr>
        <p:spPr>
          <a:xfrm>
            <a:off x="457200" y="731520"/>
            <a:ext cx="8229600" cy="1463040"/>
          </a:xfrm>
          <a:prstGeom prst="rect">
            <a:avLst/>
          </a:prstGeom>
          <a:solidFill>
            <a:srgbClr val="1565C0"/>
          </a:solidFill>
          <a:ln/>
          <a:effectLst>
            <a:outerShdw blurRad="63500" dist="25400" dir="8100000" algn="bl" rotWithShape="0">
              <a:srgbClr val="000000">
                <a:alpha val="12000"/>
              </a:srgbClr>
            </a:outerShdw>
          </a:effectLst>
        </p:spPr>
      </p:sp>
      <p:sp>
        <p:nvSpPr>
          <p:cNvPr id="4" name="Text 2"/>
          <p:cNvSpPr/>
          <p:nvPr/>
        </p:nvSpPr>
        <p:spPr>
          <a:xfrm>
            <a:off x="457200" y="777240"/>
            <a:ext cx="8229600" cy="1371600"/>
          </a:xfrm>
          <a:prstGeom prst="rect">
            <a:avLst/>
          </a:prstGeom>
          <a:noFill/>
          <a:ln/>
        </p:spPr>
        <p:txBody>
          <a:bodyPr wrap="square" lIns="0" tIns="0" rIns="0" bIns="0"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Water Potability Prediction</a:t>
            </a:r>
            <a:endParaRPr lang="en-US" sz="3800" dirty="0"/>
          </a:p>
        </p:txBody>
      </p:sp>
      <p:sp>
        <p:nvSpPr>
          <p:cNvPr id="5" name="Text 3"/>
          <p:cNvSpPr/>
          <p:nvPr/>
        </p:nvSpPr>
        <p:spPr>
          <a:xfrm>
            <a:off x="457200" y="2331720"/>
            <a:ext cx="8229600" cy="457200"/>
          </a:xfrm>
          <a:prstGeom prst="rect">
            <a:avLst/>
          </a:prstGeom>
          <a:noFill/>
          <a:ln/>
        </p:spPr>
        <p:txBody>
          <a:bodyPr wrap="square" rtlCol="0" anchor="ctr"/>
          <a:lstStyle/>
          <a:p>
            <a:pPr marL="0" indent="0" algn="ctr">
              <a:buNone/>
            </a:pPr>
            <a:r>
              <a:rPr lang="en-US" sz="1700" dirty="0">
                <a:solidFill>
                  <a:srgbClr val="90CAF9"/>
                </a:solidFill>
                <a:latin typeface="Calibri" pitchFamily="34" charset="0"/>
                <a:ea typeface="Calibri" pitchFamily="34" charset="-122"/>
                <a:cs typeface="Calibri" pitchFamily="34" charset="-120"/>
              </a:rPr>
              <a:t>Neural Network Safety Analysis using SHERLOCK</a:t>
            </a:r>
            <a:endParaRPr lang="en-US" sz="1700" dirty="0"/>
          </a:p>
        </p:txBody>
      </p:sp>
      <p:sp>
        <p:nvSpPr>
          <p:cNvPr id="6" name="Text 4"/>
          <p:cNvSpPr/>
          <p:nvPr/>
        </p:nvSpPr>
        <p:spPr>
          <a:xfrm>
            <a:off x="457200" y="2834640"/>
            <a:ext cx="8229600" cy="320040"/>
          </a:xfrm>
          <a:prstGeom prst="rect">
            <a:avLst/>
          </a:prstGeom>
          <a:noFill/>
          <a:ln/>
        </p:spPr>
        <p:txBody>
          <a:bodyPr wrap="square" rtlCol="0" anchor="ctr"/>
          <a:lstStyle/>
          <a:p>
            <a:pPr marL="0" indent="0" algn="ctr">
              <a:buNone/>
            </a:pPr>
            <a:r>
              <a:rPr lang="en-US" sz="1300" dirty="0">
                <a:solidFill>
                  <a:srgbClr val="78909C"/>
                </a:solidFill>
                <a:latin typeface="Calibri" pitchFamily="34" charset="0"/>
                <a:ea typeface="Calibri" pitchFamily="34" charset="-122"/>
                <a:cs typeface="Calibri" pitchFamily="34" charset="-120"/>
              </a:rPr>
              <a:t>Machine Learning — Complex Computing Problem (CT-354)</a:t>
            </a:r>
            <a:endParaRPr lang="en-US" sz="1300" dirty="0"/>
          </a:p>
        </p:txBody>
      </p:sp>
      <p:sp>
        <p:nvSpPr>
          <p:cNvPr id="7" name="Shape 5"/>
          <p:cNvSpPr/>
          <p:nvPr/>
        </p:nvSpPr>
        <p:spPr>
          <a:xfrm>
            <a:off x="640080" y="3383280"/>
            <a:ext cx="2560320" cy="640080"/>
          </a:xfrm>
          <a:prstGeom prst="rect">
            <a:avLst/>
          </a:prstGeom>
          <a:solidFill>
            <a:srgbClr val="0A2342"/>
          </a:solidFill>
          <a:ln w="12700">
            <a:solidFill>
              <a:srgbClr val="1565C0"/>
            </a:solidFill>
            <a:prstDash val="solid"/>
          </a:ln>
        </p:spPr>
      </p:sp>
      <p:sp>
        <p:nvSpPr>
          <p:cNvPr id="8" name="Text 6"/>
          <p:cNvSpPr/>
          <p:nvPr/>
        </p:nvSpPr>
        <p:spPr>
          <a:xfrm>
            <a:off x="640080" y="3383280"/>
            <a:ext cx="256032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Syed Mubeen Ali  (AI-016)</a:t>
            </a:r>
            <a:endParaRPr lang="en-US" sz="1100" dirty="0"/>
          </a:p>
        </p:txBody>
      </p:sp>
      <p:sp>
        <p:nvSpPr>
          <p:cNvPr id="9" name="Shape 7"/>
          <p:cNvSpPr/>
          <p:nvPr/>
        </p:nvSpPr>
        <p:spPr>
          <a:xfrm>
            <a:off x="3474720" y="3383280"/>
            <a:ext cx="2560320" cy="640080"/>
          </a:xfrm>
          <a:prstGeom prst="rect">
            <a:avLst/>
          </a:prstGeom>
          <a:solidFill>
            <a:srgbClr val="0A2342"/>
          </a:solidFill>
          <a:ln w="12700">
            <a:solidFill>
              <a:srgbClr val="1565C0"/>
            </a:solidFill>
            <a:prstDash val="solid"/>
          </a:ln>
        </p:spPr>
      </p:sp>
      <p:sp>
        <p:nvSpPr>
          <p:cNvPr id="10" name="Text 8"/>
          <p:cNvSpPr/>
          <p:nvPr/>
        </p:nvSpPr>
        <p:spPr>
          <a:xfrm>
            <a:off x="3474720" y="3383280"/>
            <a:ext cx="256032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Muhammad Hasan Kashif  (AI-015)</a:t>
            </a:r>
            <a:endParaRPr lang="en-US" sz="1100" dirty="0"/>
          </a:p>
        </p:txBody>
      </p:sp>
      <p:sp>
        <p:nvSpPr>
          <p:cNvPr id="11" name="Shape 9"/>
          <p:cNvSpPr/>
          <p:nvPr/>
        </p:nvSpPr>
        <p:spPr>
          <a:xfrm>
            <a:off x="6309360" y="3383280"/>
            <a:ext cx="2560320" cy="640080"/>
          </a:xfrm>
          <a:prstGeom prst="rect">
            <a:avLst/>
          </a:prstGeom>
          <a:solidFill>
            <a:srgbClr val="0A2342"/>
          </a:solidFill>
          <a:ln w="12700">
            <a:solidFill>
              <a:srgbClr val="1565C0"/>
            </a:solidFill>
            <a:prstDash val="solid"/>
          </a:ln>
        </p:spPr>
      </p:sp>
      <p:sp>
        <p:nvSpPr>
          <p:cNvPr id="12" name="Text 10"/>
          <p:cNvSpPr/>
          <p:nvPr/>
        </p:nvSpPr>
        <p:spPr>
          <a:xfrm>
            <a:off x="6309360" y="3383280"/>
            <a:ext cx="2560320" cy="6400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Muhammad Munawwar Khan  (AI-035)</a:t>
            </a:r>
            <a:endParaRPr lang="en-US" sz="1100" dirty="0"/>
          </a:p>
        </p:txBody>
      </p:sp>
      <p:sp>
        <p:nvSpPr>
          <p:cNvPr id="13" name="Text 11"/>
          <p:cNvSpPr/>
          <p:nvPr/>
        </p:nvSpPr>
        <p:spPr>
          <a:xfrm>
            <a:off x="365760" y="4663440"/>
            <a:ext cx="8412480" cy="32004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Dataset: Water Potability (Kaggle)   |   Ref: Dutta et al. — SHERLOCK Paper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274320" y="822960"/>
            <a:ext cx="4023360" cy="4023360"/>
          </a:xfrm>
          <a:prstGeom prst="rect">
            <a:avLst/>
          </a:prstGeom>
          <a:solidFill>
            <a:srgbClr val="FFFFFF"/>
          </a:solidFill>
          <a:ln/>
          <a:effectLst>
            <a:outerShdw blurRad="63500" dist="25400" dir="8100000" algn="bl" rotWithShape="0">
              <a:srgbClr val="000000">
                <a:alpha val="12000"/>
              </a:srgbClr>
            </a:outerShdw>
          </a:effectLst>
        </p:spPr>
      </p:sp>
      <p:sp>
        <p:nvSpPr>
          <p:cNvPr id="5" name="Shape 3"/>
          <p:cNvSpPr/>
          <p:nvPr/>
        </p:nvSpPr>
        <p:spPr>
          <a:xfrm>
            <a:off x="274320" y="822960"/>
            <a:ext cx="4023360" cy="411480"/>
          </a:xfrm>
          <a:prstGeom prst="rect">
            <a:avLst/>
          </a:prstGeom>
          <a:solidFill>
            <a:srgbClr val="1565C0"/>
          </a:solidFill>
          <a:ln/>
        </p:spPr>
      </p:sp>
      <p:sp>
        <p:nvSpPr>
          <p:cNvPr id="6" name="Text 4"/>
          <p:cNvSpPr/>
          <p:nvPr/>
        </p:nvSpPr>
        <p:spPr>
          <a:xfrm>
            <a:off x="274320" y="822960"/>
            <a:ext cx="40233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Problem</a:t>
            </a:r>
            <a:endParaRPr lang="en-US" sz="1400" dirty="0"/>
          </a:p>
        </p:txBody>
      </p:sp>
      <p:sp>
        <p:nvSpPr>
          <p:cNvPr id="7" name="Text 5"/>
          <p:cNvSpPr/>
          <p:nvPr/>
        </p:nvSpPr>
        <p:spPr>
          <a:xfrm>
            <a:off x="457200" y="1371600"/>
            <a:ext cx="3657600" cy="3291840"/>
          </a:xfrm>
          <a:prstGeom prst="rect">
            <a:avLst/>
          </a:prstGeom>
          <a:noFill/>
          <a:ln/>
        </p:spPr>
        <p:txBody>
          <a:bodyPr wrap="square" rtlCol="0" anchor="t"/>
          <a:lstStyle/>
          <a:p>
            <a:pPr marL="0" indent="0">
              <a:buNone/>
            </a:pPr>
            <a:r>
              <a:rPr lang="en-US" sz="1250" dirty="0">
                <a:solidFill>
                  <a:srgbClr val="546E7A"/>
                </a:solidFill>
                <a:latin typeface="Calibri" pitchFamily="34" charset="0"/>
                <a:ea typeface="Calibri" pitchFamily="34" charset="-122"/>
                <a:cs typeface="Calibri" pitchFamily="34" charset="-120"/>
              </a:rPr>
              <a:t>• Clean water is essential for life
</a:t>
            </a:r>
            <a:endParaRPr lang="en-US" sz="1250" dirty="0"/>
          </a:p>
          <a:p>
            <a:pPr marL="0" indent="0">
              <a:buNone/>
            </a:pPr>
            <a:r>
              <a:rPr lang="en-US" sz="1250" dirty="0">
                <a:solidFill>
                  <a:srgbClr val="546E7A"/>
                </a:solidFill>
                <a:latin typeface="Calibri" pitchFamily="34" charset="0"/>
                <a:ea typeface="Calibri" pitchFamily="34" charset="-122"/>
                <a:cs typeface="Calibri" pitchFamily="34" charset="-120"/>
              </a:rPr>
              <a:t>• Goal: predict if water is safe to drink
</a:t>
            </a:r>
            <a:endParaRPr lang="en-US" sz="1250" dirty="0"/>
          </a:p>
          <a:p>
            <a:pPr marL="0" indent="0">
              <a:buNone/>
            </a:pPr>
            <a:r>
              <a:rPr lang="en-US" sz="1250" dirty="0">
                <a:solidFill>
                  <a:srgbClr val="546E7A"/>
                </a:solidFill>
                <a:latin typeface="Calibri" pitchFamily="34" charset="0"/>
                <a:ea typeface="Calibri" pitchFamily="34" charset="-122"/>
                <a:cs typeface="Calibri" pitchFamily="34" charset="-120"/>
              </a:rPr>
              <a:t>• Dataset: 3,276 water samples with 9 chemical measurements
</a:t>
            </a:r>
            <a:endParaRPr lang="en-US" sz="1250" dirty="0"/>
          </a:p>
          <a:p>
            <a:pPr marL="0" indent="0">
              <a:buNone/>
            </a:pPr>
            <a:r>
              <a:rPr lang="en-US" sz="1250" dirty="0">
                <a:solidFill>
                  <a:srgbClr val="546E7A"/>
                </a:solidFill>
                <a:latin typeface="Calibri" pitchFamily="34" charset="0"/>
                <a:ea typeface="Calibri" pitchFamily="34" charset="-122"/>
                <a:cs typeface="Calibri" pitchFamily="34" charset="-120"/>
              </a:rPr>
              <a:t>• Accuracy alone is not enough — we need safety verification
</a:t>
            </a:r>
            <a:endParaRPr lang="en-US" sz="1250" dirty="0"/>
          </a:p>
          <a:p>
            <a:pPr marL="0" indent="0">
              <a:buNone/>
            </a:pPr>
            <a:r>
              <a:rPr lang="en-US" sz="1250" dirty="0">
                <a:solidFill>
                  <a:srgbClr val="546E7A"/>
                </a:solidFill>
                <a:latin typeface="Calibri" pitchFamily="34" charset="0"/>
                <a:ea typeface="Calibri" pitchFamily="34" charset="-122"/>
                <a:cs typeface="Calibri" pitchFamily="34" charset="-120"/>
              </a:rPr>
              <a:t>• If model says 'safe' for unsafe water → people get sick</a:t>
            </a:r>
            <a:endParaRPr lang="en-US" sz="1250" dirty="0"/>
          </a:p>
        </p:txBody>
      </p:sp>
      <p:sp>
        <p:nvSpPr>
          <p:cNvPr id="8" name="Shape 6"/>
          <p:cNvSpPr/>
          <p:nvPr/>
        </p:nvSpPr>
        <p:spPr>
          <a:xfrm>
            <a:off x="4663440" y="822960"/>
            <a:ext cx="4206240" cy="4023360"/>
          </a:xfrm>
          <a:prstGeom prst="rect">
            <a:avLst/>
          </a:prstGeom>
          <a:solidFill>
            <a:srgbClr val="FFFFFF"/>
          </a:solidFill>
          <a:ln/>
          <a:effectLst>
            <a:outerShdw blurRad="63500" dist="25400" dir="8100000" algn="bl" rotWithShape="0">
              <a:srgbClr val="000000">
                <a:alpha val="12000"/>
              </a:srgbClr>
            </a:outerShdw>
          </a:effectLst>
        </p:spPr>
      </p:sp>
      <p:sp>
        <p:nvSpPr>
          <p:cNvPr id="9" name="Shape 7"/>
          <p:cNvSpPr/>
          <p:nvPr/>
        </p:nvSpPr>
        <p:spPr>
          <a:xfrm>
            <a:off x="4663440" y="822960"/>
            <a:ext cx="4206240" cy="411480"/>
          </a:xfrm>
          <a:prstGeom prst="rect">
            <a:avLst/>
          </a:prstGeom>
          <a:solidFill>
            <a:srgbClr val="E53935"/>
          </a:solidFill>
          <a:ln/>
        </p:spPr>
      </p:sp>
      <p:sp>
        <p:nvSpPr>
          <p:cNvPr id="10" name="Text 8"/>
          <p:cNvSpPr/>
          <p:nvPr/>
        </p:nvSpPr>
        <p:spPr>
          <a:xfrm>
            <a:off x="4663440" y="822960"/>
            <a:ext cx="42062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From the SHERLOCK Paper</a:t>
            </a:r>
            <a:endParaRPr lang="en-US" sz="1400" dirty="0"/>
          </a:p>
        </p:txBody>
      </p:sp>
      <p:sp>
        <p:nvSpPr>
          <p:cNvPr id="11" name="Shape 9"/>
          <p:cNvSpPr/>
          <p:nvPr/>
        </p:nvSpPr>
        <p:spPr>
          <a:xfrm>
            <a:off x="4754880" y="1371600"/>
            <a:ext cx="201168" cy="201168"/>
          </a:xfrm>
          <a:prstGeom prst="ellipse">
            <a:avLst/>
          </a:prstGeom>
          <a:solidFill>
            <a:srgbClr val="1565C0"/>
          </a:solidFill>
          <a:ln/>
        </p:spPr>
      </p:sp>
      <p:sp>
        <p:nvSpPr>
          <p:cNvPr id="12" name="Text 10"/>
          <p:cNvSpPr/>
          <p:nvPr/>
        </p:nvSpPr>
        <p:spPr>
          <a:xfrm>
            <a:off x="5074920" y="1353312"/>
            <a:ext cx="3657600" cy="25603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ReLU Neural Network: Main prediction model</a:t>
            </a:r>
            <a:endParaRPr lang="en-US" sz="1200" dirty="0"/>
          </a:p>
        </p:txBody>
      </p:sp>
      <p:sp>
        <p:nvSpPr>
          <p:cNvPr id="13" name="Shape 11"/>
          <p:cNvSpPr/>
          <p:nvPr/>
        </p:nvSpPr>
        <p:spPr>
          <a:xfrm>
            <a:off x="4754880" y="1938528"/>
            <a:ext cx="201168" cy="201168"/>
          </a:xfrm>
          <a:prstGeom prst="ellipse">
            <a:avLst/>
          </a:prstGeom>
          <a:solidFill>
            <a:srgbClr val="1565C0"/>
          </a:solidFill>
          <a:ln/>
        </p:spPr>
      </p:sp>
      <p:sp>
        <p:nvSpPr>
          <p:cNvPr id="14" name="Text 12"/>
          <p:cNvSpPr/>
          <p:nvPr/>
        </p:nvSpPr>
        <p:spPr>
          <a:xfrm>
            <a:off x="5074920" y="1920240"/>
            <a:ext cx="3657600" cy="25603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Range Estimation: Find [min, max] outputs</a:t>
            </a:r>
            <a:endParaRPr lang="en-US" sz="1200" dirty="0"/>
          </a:p>
        </p:txBody>
      </p:sp>
      <p:sp>
        <p:nvSpPr>
          <p:cNvPr id="15" name="Shape 13"/>
          <p:cNvSpPr/>
          <p:nvPr/>
        </p:nvSpPr>
        <p:spPr>
          <a:xfrm>
            <a:off x="4754880" y="2505456"/>
            <a:ext cx="201168" cy="201168"/>
          </a:xfrm>
          <a:prstGeom prst="ellipse">
            <a:avLst/>
          </a:prstGeom>
          <a:solidFill>
            <a:srgbClr val="1565C0"/>
          </a:solidFill>
          <a:ln/>
        </p:spPr>
      </p:sp>
      <p:sp>
        <p:nvSpPr>
          <p:cNvPr id="16" name="Text 14"/>
          <p:cNvSpPr/>
          <p:nvPr/>
        </p:nvSpPr>
        <p:spPr>
          <a:xfrm>
            <a:off x="5074920" y="2487168"/>
            <a:ext cx="3657600" cy="25603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IBP: Fast output bounds</a:t>
            </a:r>
            <a:endParaRPr lang="en-US" sz="1200" dirty="0"/>
          </a:p>
        </p:txBody>
      </p:sp>
      <p:sp>
        <p:nvSpPr>
          <p:cNvPr id="17" name="Shape 15"/>
          <p:cNvSpPr/>
          <p:nvPr/>
        </p:nvSpPr>
        <p:spPr>
          <a:xfrm>
            <a:off x="4754880" y="3072384"/>
            <a:ext cx="201168" cy="201168"/>
          </a:xfrm>
          <a:prstGeom prst="ellipse">
            <a:avLst/>
          </a:prstGeom>
          <a:solidFill>
            <a:srgbClr val="1565C0"/>
          </a:solidFill>
          <a:ln/>
        </p:spPr>
      </p:sp>
      <p:sp>
        <p:nvSpPr>
          <p:cNvPr id="18" name="Text 16"/>
          <p:cNvSpPr/>
          <p:nvPr/>
        </p:nvSpPr>
        <p:spPr>
          <a:xfrm>
            <a:off x="5074920" y="3054096"/>
            <a:ext cx="3657600" cy="25603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Local Search: Tighter bounds (gradient ascent)</a:t>
            </a:r>
            <a:endParaRPr lang="en-US" sz="1200" dirty="0"/>
          </a:p>
        </p:txBody>
      </p:sp>
      <p:sp>
        <p:nvSpPr>
          <p:cNvPr id="19" name="Shape 17"/>
          <p:cNvSpPr/>
          <p:nvPr/>
        </p:nvSpPr>
        <p:spPr>
          <a:xfrm>
            <a:off x="4754880" y="3639312"/>
            <a:ext cx="201168" cy="201168"/>
          </a:xfrm>
          <a:prstGeom prst="ellipse">
            <a:avLst/>
          </a:prstGeom>
          <a:solidFill>
            <a:srgbClr val="1565C0"/>
          </a:solidFill>
          <a:ln/>
        </p:spPr>
      </p:sp>
      <p:sp>
        <p:nvSpPr>
          <p:cNvPr id="20" name="Text 18"/>
          <p:cNvSpPr/>
          <p:nvPr/>
        </p:nvSpPr>
        <p:spPr>
          <a:xfrm>
            <a:off x="5074920" y="3621024"/>
            <a:ext cx="3657600" cy="25603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Safety Verification: Prove model is safe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a:t>
            </a:r>
            <a:endParaRPr lang="en-US" sz="2600" dirty="0"/>
          </a:p>
        </p:txBody>
      </p:sp>
      <p:sp>
        <p:nvSpPr>
          <p:cNvPr id="4" name="Shape 2"/>
          <p:cNvSpPr/>
          <p:nvPr/>
        </p:nvSpPr>
        <p:spPr>
          <a:xfrm>
            <a:off x="274320" y="777240"/>
            <a:ext cx="1920240" cy="1005840"/>
          </a:xfrm>
          <a:prstGeom prst="rect">
            <a:avLst/>
          </a:prstGeom>
          <a:solidFill>
            <a:srgbClr val="1565C0"/>
          </a:solidFill>
          <a:ln/>
          <a:effectLst>
            <a:outerShdw blurRad="63500" dist="25400" dir="8100000" algn="bl" rotWithShape="0">
              <a:srgbClr val="000000">
                <a:alpha val="12000"/>
              </a:srgbClr>
            </a:outerShdw>
          </a:effectLst>
        </p:spPr>
      </p:sp>
      <p:sp>
        <p:nvSpPr>
          <p:cNvPr id="5" name="Text 3"/>
          <p:cNvSpPr/>
          <p:nvPr/>
        </p:nvSpPr>
        <p:spPr>
          <a:xfrm>
            <a:off x="274320" y="777240"/>
            <a:ext cx="1920240" cy="594360"/>
          </a:xfrm>
          <a:prstGeom prst="rect">
            <a:avLst/>
          </a:prstGeom>
          <a:noFill/>
          <a:ln/>
        </p:spPr>
        <p:txBody>
          <a:bodyPr wrap="square" rtlCol="0" anchor="b"/>
          <a:lstStyle/>
          <a:p>
            <a:pPr marL="0" indent="0" algn="ctr">
              <a:buNone/>
            </a:pPr>
            <a:r>
              <a:rPr lang="en-US" sz="3000" b="1" dirty="0">
                <a:solidFill>
                  <a:srgbClr val="FFFFFF"/>
                </a:solidFill>
                <a:latin typeface="Calibri" pitchFamily="34" charset="0"/>
                <a:ea typeface="Calibri" pitchFamily="34" charset="-122"/>
                <a:cs typeface="Calibri" pitchFamily="34" charset="-120"/>
              </a:rPr>
              <a:t>3,276</a:t>
            </a:r>
            <a:endParaRPr lang="en-US" sz="3000" dirty="0"/>
          </a:p>
        </p:txBody>
      </p:sp>
      <p:sp>
        <p:nvSpPr>
          <p:cNvPr id="6" name="Text 4"/>
          <p:cNvSpPr/>
          <p:nvPr/>
        </p:nvSpPr>
        <p:spPr>
          <a:xfrm>
            <a:off x="274320" y="1371600"/>
            <a:ext cx="1920240" cy="36576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Total Samples</a:t>
            </a:r>
            <a:endParaRPr lang="en-US" sz="1100" dirty="0"/>
          </a:p>
        </p:txBody>
      </p:sp>
      <p:sp>
        <p:nvSpPr>
          <p:cNvPr id="7" name="Shape 5"/>
          <p:cNvSpPr/>
          <p:nvPr/>
        </p:nvSpPr>
        <p:spPr>
          <a:xfrm>
            <a:off x="2468880" y="777240"/>
            <a:ext cx="1920240" cy="1005840"/>
          </a:xfrm>
          <a:prstGeom prst="rect">
            <a:avLst/>
          </a:prstGeom>
          <a:solidFill>
            <a:srgbClr val="1565C0"/>
          </a:solidFill>
          <a:ln/>
          <a:effectLst>
            <a:outerShdw blurRad="63500" dist="25400" dir="8100000" algn="bl" rotWithShape="0">
              <a:srgbClr val="000000">
                <a:alpha val="12000"/>
              </a:srgbClr>
            </a:outerShdw>
          </a:effectLst>
        </p:spPr>
      </p:sp>
      <p:sp>
        <p:nvSpPr>
          <p:cNvPr id="8" name="Text 6"/>
          <p:cNvSpPr/>
          <p:nvPr/>
        </p:nvSpPr>
        <p:spPr>
          <a:xfrm>
            <a:off x="2468880" y="777240"/>
            <a:ext cx="1920240" cy="594360"/>
          </a:xfrm>
          <a:prstGeom prst="rect">
            <a:avLst/>
          </a:prstGeom>
          <a:noFill/>
          <a:ln/>
        </p:spPr>
        <p:txBody>
          <a:bodyPr wrap="square" rtlCol="0" anchor="b"/>
          <a:lstStyle/>
          <a:p>
            <a:pPr marL="0" indent="0" algn="ctr">
              <a:buNone/>
            </a:pPr>
            <a:r>
              <a:rPr lang="en-US" sz="3000" b="1" dirty="0">
                <a:solidFill>
                  <a:srgbClr val="FFFFFF"/>
                </a:solidFill>
                <a:latin typeface="Calibri" pitchFamily="34" charset="0"/>
                <a:ea typeface="Calibri" pitchFamily="34" charset="-122"/>
                <a:cs typeface="Calibri" pitchFamily="34" charset="-120"/>
              </a:rPr>
              <a:t>9</a:t>
            </a:r>
            <a:endParaRPr lang="en-US" sz="3000" dirty="0"/>
          </a:p>
        </p:txBody>
      </p:sp>
      <p:sp>
        <p:nvSpPr>
          <p:cNvPr id="9" name="Text 7"/>
          <p:cNvSpPr/>
          <p:nvPr/>
        </p:nvSpPr>
        <p:spPr>
          <a:xfrm>
            <a:off x="2468880" y="1371600"/>
            <a:ext cx="1920240" cy="36576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Features</a:t>
            </a:r>
            <a:endParaRPr lang="en-US" sz="1100" dirty="0"/>
          </a:p>
        </p:txBody>
      </p:sp>
      <p:sp>
        <p:nvSpPr>
          <p:cNvPr id="10" name="Shape 8"/>
          <p:cNvSpPr/>
          <p:nvPr/>
        </p:nvSpPr>
        <p:spPr>
          <a:xfrm>
            <a:off x="4663440" y="777240"/>
            <a:ext cx="1920240" cy="1005840"/>
          </a:xfrm>
          <a:prstGeom prst="rect">
            <a:avLst/>
          </a:prstGeom>
          <a:solidFill>
            <a:srgbClr val="2E7D32"/>
          </a:solidFill>
          <a:ln/>
          <a:effectLst>
            <a:outerShdw blurRad="63500" dist="25400" dir="8100000" algn="bl" rotWithShape="0">
              <a:srgbClr val="000000">
                <a:alpha val="12000"/>
              </a:srgbClr>
            </a:outerShdw>
          </a:effectLst>
        </p:spPr>
      </p:sp>
      <p:sp>
        <p:nvSpPr>
          <p:cNvPr id="11" name="Text 9"/>
          <p:cNvSpPr/>
          <p:nvPr/>
        </p:nvSpPr>
        <p:spPr>
          <a:xfrm>
            <a:off x="4663440" y="777240"/>
            <a:ext cx="1920240" cy="594360"/>
          </a:xfrm>
          <a:prstGeom prst="rect">
            <a:avLst/>
          </a:prstGeom>
          <a:noFill/>
          <a:ln/>
        </p:spPr>
        <p:txBody>
          <a:bodyPr wrap="square" rtlCol="0" anchor="b"/>
          <a:lstStyle/>
          <a:p>
            <a:pPr marL="0" indent="0" algn="ctr">
              <a:buNone/>
            </a:pPr>
            <a:r>
              <a:rPr lang="en-US" sz="3000" b="1" dirty="0">
                <a:solidFill>
                  <a:srgbClr val="FFFFFF"/>
                </a:solidFill>
                <a:latin typeface="Calibri" pitchFamily="34" charset="0"/>
                <a:ea typeface="Calibri" pitchFamily="34" charset="-122"/>
                <a:cs typeface="Calibri" pitchFamily="34" charset="-120"/>
              </a:rPr>
              <a:t>1,278</a:t>
            </a:r>
            <a:endParaRPr lang="en-US" sz="3000" dirty="0"/>
          </a:p>
        </p:txBody>
      </p:sp>
      <p:sp>
        <p:nvSpPr>
          <p:cNvPr id="12" name="Text 10"/>
          <p:cNvSpPr/>
          <p:nvPr/>
        </p:nvSpPr>
        <p:spPr>
          <a:xfrm>
            <a:off x="4663440" y="1371600"/>
            <a:ext cx="1920240" cy="36576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Potable (safe)</a:t>
            </a:r>
            <a:endParaRPr lang="en-US" sz="1100" dirty="0"/>
          </a:p>
        </p:txBody>
      </p:sp>
      <p:sp>
        <p:nvSpPr>
          <p:cNvPr id="13" name="Shape 11"/>
          <p:cNvSpPr/>
          <p:nvPr/>
        </p:nvSpPr>
        <p:spPr>
          <a:xfrm>
            <a:off x="6858000" y="777240"/>
            <a:ext cx="1920240" cy="1005840"/>
          </a:xfrm>
          <a:prstGeom prst="rect">
            <a:avLst/>
          </a:prstGeom>
          <a:solidFill>
            <a:srgbClr val="E53935"/>
          </a:solidFill>
          <a:ln/>
          <a:effectLst>
            <a:outerShdw blurRad="63500" dist="25400" dir="8100000" algn="bl" rotWithShape="0">
              <a:srgbClr val="000000">
                <a:alpha val="12000"/>
              </a:srgbClr>
            </a:outerShdw>
          </a:effectLst>
        </p:spPr>
      </p:sp>
      <p:sp>
        <p:nvSpPr>
          <p:cNvPr id="14" name="Text 12"/>
          <p:cNvSpPr/>
          <p:nvPr/>
        </p:nvSpPr>
        <p:spPr>
          <a:xfrm>
            <a:off x="6858000" y="777240"/>
            <a:ext cx="1920240" cy="594360"/>
          </a:xfrm>
          <a:prstGeom prst="rect">
            <a:avLst/>
          </a:prstGeom>
          <a:noFill/>
          <a:ln/>
        </p:spPr>
        <p:txBody>
          <a:bodyPr wrap="square" rtlCol="0" anchor="b"/>
          <a:lstStyle/>
          <a:p>
            <a:pPr marL="0" indent="0" algn="ctr">
              <a:buNone/>
            </a:pPr>
            <a:r>
              <a:rPr lang="en-US" sz="3000" b="1" dirty="0">
                <a:solidFill>
                  <a:srgbClr val="FFFFFF"/>
                </a:solidFill>
                <a:latin typeface="Calibri" pitchFamily="34" charset="0"/>
                <a:ea typeface="Calibri" pitchFamily="34" charset="-122"/>
                <a:cs typeface="Calibri" pitchFamily="34" charset="-120"/>
              </a:rPr>
              <a:t>1,998</a:t>
            </a:r>
            <a:endParaRPr lang="en-US" sz="3000" dirty="0"/>
          </a:p>
        </p:txBody>
      </p:sp>
      <p:sp>
        <p:nvSpPr>
          <p:cNvPr id="15" name="Text 13"/>
          <p:cNvSpPr/>
          <p:nvPr/>
        </p:nvSpPr>
        <p:spPr>
          <a:xfrm>
            <a:off x="6858000" y="1371600"/>
            <a:ext cx="1920240" cy="36576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Non-Potable</a:t>
            </a:r>
            <a:endParaRPr lang="en-US" sz="1100" dirty="0"/>
          </a:p>
        </p:txBody>
      </p:sp>
      <p:sp>
        <p:nvSpPr>
          <p:cNvPr id="16" name="Text 14"/>
          <p:cNvSpPr/>
          <p:nvPr/>
        </p:nvSpPr>
        <p:spPr>
          <a:xfrm>
            <a:off x="274320" y="2011680"/>
            <a:ext cx="8595360" cy="320040"/>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The 9 Water Quality Features:</a:t>
            </a:r>
            <a:endParaRPr lang="en-US" sz="1400" dirty="0"/>
          </a:p>
        </p:txBody>
      </p:sp>
      <p:sp>
        <p:nvSpPr>
          <p:cNvPr id="17" name="Shape 15"/>
          <p:cNvSpPr/>
          <p:nvPr/>
        </p:nvSpPr>
        <p:spPr>
          <a:xfrm>
            <a:off x="274320" y="2423160"/>
            <a:ext cx="4114800" cy="347472"/>
          </a:xfrm>
          <a:prstGeom prst="rect">
            <a:avLst/>
          </a:prstGeom>
          <a:solidFill>
            <a:srgbClr val="E3F0FF"/>
          </a:solidFill>
          <a:ln w="6350">
            <a:solidFill>
              <a:srgbClr val="BBDEFB"/>
            </a:solidFill>
            <a:prstDash val="solid"/>
          </a:ln>
        </p:spPr>
      </p:sp>
      <p:sp>
        <p:nvSpPr>
          <p:cNvPr id="18" name="Text 16"/>
          <p:cNvSpPr/>
          <p:nvPr/>
        </p:nvSpPr>
        <p:spPr>
          <a:xfrm>
            <a:off x="347472" y="2423160"/>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pH: </a:t>
            </a:r>
            <a:endParaRPr lang="en-US" sz="1100" dirty="0"/>
          </a:p>
        </p:txBody>
      </p:sp>
      <p:sp>
        <p:nvSpPr>
          <p:cNvPr id="19" name="Text 17"/>
          <p:cNvSpPr/>
          <p:nvPr/>
        </p:nvSpPr>
        <p:spPr>
          <a:xfrm>
            <a:off x="1188720" y="2423160"/>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Acidity/basicity (safe: 6.5–8.5)</a:t>
            </a:r>
            <a:endParaRPr lang="en-US" sz="1100" dirty="0"/>
          </a:p>
        </p:txBody>
      </p:sp>
      <p:sp>
        <p:nvSpPr>
          <p:cNvPr id="20" name="Shape 18"/>
          <p:cNvSpPr/>
          <p:nvPr/>
        </p:nvSpPr>
        <p:spPr>
          <a:xfrm>
            <a:off x="274320" y="2852928"/>
            <a:ext cx="4114800" cy="347472"/>
          </a:xfrm>
          <a:prstGeom prst="rect">
            <a:avLst/>
          </a:prstGeom>
          <a:solidFill>
            <a:srgbClr val="FFFFFF"/>
          </a:solidFill>
          <a:ln w="6350">
            <a:solidFill>
              <a:srgbClr val="BBDEFB"/>
            </a:solidFill>
            <a:prstDash val="solid"/>
          </a:ln>
        </p:spPr>
      </p:sp>
      <p:sp>
        <p:nvSpPr>
          <p:cNvPr id="21" name="Text 19"/>
          <p:cNvSpPr/>
          <p:nvPr/>
        </p:nvSpPr>
        <p:spPr>
          <a:xfrm>
            <a:off x="347472" y="2852928"/>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Hardness: </a:t>
            </a:r>
            <a:endParaRPr lang="en-US" sz="1100" dirty="0"/>
          </a:p>
        </p:txBody>
      </p:sp>
      <p:sp>
        <p:nvSpPr>
          <p:cNvPr id="22" name="Text 20"/>
          <p:cNvSpPr/>
          <p:nvPr/>
        </p:nvSpPr>
        <p:spPr>
          <a:xfrm>
            <a:off x="1188720" y="2852928"/>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Calcium &amp; magnesium content</a:t>
            </a:r>
            <a:endParaRPr lang="en-US" sz="1100" dirty="0"/>
          </a:p>
        </p:txBody>
      </p:sp>
      <p:sp>
        <p:nvSpPr>
          <p:cNvPr id="23" name="Shape 21"/>
          <p:cNvSpPr/>
          <p:nvPr/>
        </p:nvSpPr>
        <p:spPr>
          <a:xfrm>
            <a:off x="274320" y="3282696"/>
            <a:ext cx="4114800" cy="347472"/>
          </a:xfrm>
          <a:prstGeom prst="rect">
            <a:avLst/>
          </a:prstGeom>
          <a:solidFill>
            <a:srgbClr val="E3F0FF"/>
          </a:solidFill>
          <a:ln w="6350">
            <a:solidFill>
              <a:srgbClr val="BBDEFB"/>
            </a:solidFill>
            <a:prstDash val="solid"/>
          </a:ln>
        </p:spPr>
      </p:sp>
      <p:sp>
        <p:nvSpPr>
          <p:cNvPr id="24" name="Text 22"/>
          <p:cNvSpPr/>
          <p:nvPr/>
        </p:nvSpPr>
        <p:spPr>
          <a:xfrm>
            <a:off x="347472" y="3282696"/>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Solids: </a:t>
            </a:r>
            <a:endParaRPr lang="en-US" sz="1100" dirty="0"/>
          </a:p>
        </p:txBody>
      </p:sp>
      <p:sp>
        <p:nvSpPr>
          <p:cNvPr id="25" name="Text 23"/>
          <p:cNvSpPr/>
          <p:nvPr/>
        </p:nvSpPr>
        <p:spPr>
          <a:xfrm>
            <a:off x="1188720" y="3282696"/>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Total dissolved particles (ppm)</a:t>
            </a:r>
            <a:endParaRPr lang="en-US" sz="1100" dirty="0"/>
          </a:p>
        </p:txBody>
      </p:sp>
      <p:sp>
        <p:nvSpPr>
          <p:cNvPr id="26" name="Shape 24"/>
          <p:cNvSpPr/>
          <p:nvPr/>
        </p:nvSpPr>
        <p:spPr>
          <a:xfrm>
            <a:off x="274320" y="3712464"/>
            <a:ext cx="4114800" cy="347472"/>
          </a:xfrm>
          <a:prstGeom prst="rect">
            <a:avLst/>
          </a:prstGeom>
          <a:solidFill>
            <a:srgbClr val="FFFFFF"/>
          </a:solidFill>
          <a:ln w="6350">
            <a:solidFill>
              <a:srgbClr val="BBDEFB"/>
            </a:solidFill>
            <a:prstDash val="solid"/>
          </a:ln>
        </p:spPr>
      </p:sp>
      <p:sp>
        <p:nvSpPr>
          <p:cNvPr id="27" name="Text 25"/>
          <p:cNvSpPr/>
          <p:nvPr/>
        </p:nvSpPr>
        <p:spPr>
          <a:xfrm>
            <a:off x="347472" y="3712464"/>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Chloramines: </a:t>
            </a:r>
            <a:endParaRPr lang="en-US" sz="1100" dirty="0"/>
          </a:p>
        </p:txBody>
      </p:sp>
      <p:sp>
        <p:nvSpPr>
          <p:cNvPr id="28" name="Text 26"/>
          <p:cNvSpPr/>
          <p:nvPr/>
        </p:nvSpPr>
        <p:spPr>
          <a:xfrm>
            <a:off x="1188720" y="3712464"/>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Disinfectant level</a:t>
            </a:r>
            <a:endParaRPr lang="en-US" sz="1100" dirty="0"/>
          </a:p>
        </p:txBody>
      </p:sp>
      <p:sp>
        <p:nvSpPr>
          <p:cNvPr id="29" name="Shape 27"/>
          <p:cNvSpPr/>
          <p:nvPr/>
        </p:nvSpPr>
        <p:spPr>
          <a:xfrm>
            <a:off x="274320" y="4142232"/>
            <a:ext cx="4114800" cy="347472"/>
          </a:xfrm>
          <a:prstGeom prst="rect">
            <a:avLst/>
          </a:prstGeom>
          <a:solidFill>
            <a:srgbClr val="E3F0FF"/>
          </a:solidFill>
          <a:ln w="6350">
            <a:solidFill>
              <a:srgbClr val="BBDEFB"/>
            </a:solidFill>
            <a:prstDash val="solid"/>
          </a:ln>
        </p:spPr>
      </p:sp>
      <p:sp>
        <p:nvSpPr>
          <p:cNvPr id="30" name="Text 28"/>
          <p:cNvSpPr/>
          <p:nvPr/>
        </p:nvSpPr>
        <p:spPr>
          <a:xfrm>
            <a:off x="347472" y="4142232"/>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Sulfate: </a:t>
            </a:r>
            <a:endParaRPr lang="en-US" sz="1100" dirty="0"/>
          </a:p>
        </p:txBody>
      </p:sp>
      <p:sp>
        <p:nvSpPr>
          <p:cNvPr id="31" name="Text 29"/>
          <p:cNvSpPr/>
          <p:nvPr/>
        </p:nvSpPr>
        <p:spPr>
          <a:xfrm>
            <a:off x="1188720" y="4142232"/>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Natural mineral content</a:t>
            </a:r>
            <a:endParaRPr lang="en-US" sz="1100" dirty="0"/>
          </a:p>
        </p:txBody>
      </p:sp>
      <p:sp>
        <p:nvSpPr>
          <p:cNvPr id="32" name="Shape 30"/>
          <p:cNvSpPr/>
          <p:nvPr/>
        </p:nvSpPr>
        <p:spPr>
          <a:xfrm>
            <a:off x="4754880" y="2423160"/>
            <a:ext cx="4114800" cy="347472"/>
          </a:xfrm>
          <a:prstGeom prst="rect">
            <a:avLst/>
          </a:prstGeom>
          <a:solidFill>
            <a:srgbClr val="FFFFFF"/>
          </a:solidFill>
          <a:ln w="6350">
            <a:solidFill>
              <a:srgbClr val="BBDEFB"/>
            </a:solidFill>
            <a:prstDash val="solid"/>
          </a:ln>
        </p:spPr>
      </p:sp>
      <p:sp>
        <p:nvSpPr>
          <p:cNvPr id="33" name="Text 31"/>
          <p:cNvSpPr/>
          <p:nvPr/>
        </p:nvSpPr>
        <p:spPr>
          <a:xfrm>
            <a:off x="4828032" y="2423160"/>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Conductivity: </a:t>
            </a:r>
            <a:endParaRPr lang="en-US" sz="1100" dirty="0"/>
          </a:p>
        </p:txBody>
      </p:sp>
      <p:sp>
        <p:nvSpPr>
          <p:cNvPr id="34" name="Text 32"/>
          <p:cNvSpPr/>
          <p:nvPr/>
        </p:nvSpPr>
        <p:spPr>
          <a:xfrm>
            <a:off x="5669280" y="2423160"/>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Dissolved ion measurement</a:t>
            </a:r>
            <a:endParaRPr lang="en-US" sz="1100" dirty="0"/>
          </a:p>
        </p:txBody>
      </p:sp>
      <p:sp>
        <p:nvSpPr>
          <p:cNvPr id="35" name="Shape 33"/>
          <p:cNvSpPr/>
          <p:nvPr/>
        </p:nvSpPr>
        <p:spPr>
          <a:xfrm>
            <a:off x="4754880" y="2852928"/>
            <a:ext cx="4114800" cy="347472"/>
          </a:xfrm>
          <a:prstGeom prst="rect">
            <a:avLst/>
          </a:prstGeom>
          <a:solidFill>
            <a:srgbClr val="E3F0FF"/>
          </a:solidFill>
          <a:ln w="6350">
            <a:solidFill>
              <a:srgbClr val="BBDEFB"/>
            </a:solidFill>
            <a:prstDash val="solid"/>
          </a:ln>
        </p:spPr>
      </p:sp>
      <p:sp>
        <p:nvSpPr>
          <p:cNvPr id="36" name="Text 34"/>
          <p:cNvSpPr/>
          <p:nvPr/>
        </p:nvSpPr>
        <p:spPr>
          <a:xfrm>
            <a:off x="4828032" y="2852928"/>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Organic Carbon: </a:t>
            </a:r>
            <a:endParaRPr lang="en-US" sz="1100" dirty="0"/>
          </a:p>
        </p:txBody>
      </p:sp>
      <p:sp>
        <p:nvSpPr>
          <p:cNvPr id="37" name="Text 35"/>
          <p:cNvSpPr/>
          <p:nvPr/>
        </p:nvSpPr>
        <p:spPr>
          <a:xfrm>
            <a:off x="5669280" y="2852928"/>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Organic matter presence</a:t>
            </a:r>
            <a:endParaRPr lang="en-US" sz="1100" dirty="0"/>
          </a:p>
        </p:txBody>
      </p:sp>
      <p:sp>
        <p:nvSpPr>
          <p:cNvPr id="38" name="Shape 36"/>
          <p:cNvSpPr/>
          <p:nvPr/>
        </p:nvSpPr>
        <p:spPr>
          <a:xfrm>
            <a:off x="4754880" y="3282696"/>
            <a:ext cx="4114800" cy="347472"/>
          </a:xfrm>
          <a:prstGeom prst="rect">
            <a:avLst/>
          </a:prstGeom>
          <a:solidFill>
            <a:srgbClr val="FFFFFF"/>
          </a:solidFill>
          <a:ln w="6350">
            <a:solidFill>
              <a:srgbClr val="BBDEFB"/>
            </a:solidFill>
            <a:prstDash val="solid"/>
          </a:ln>
        </p:spPr>
      </p:sp>
      <p:sp>
        <p:nvSpPr>
          <p:cNvPr id="39" name="Text 37"/>
          <p:cNvSpPr/>
          <p:nvPr/>
        </p:nvSpPr>
        <p:spPr>
          <a:xfrm>
            <a:off x="4828032" y="3282696"/>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Trihalomethanes: </a:t>
            </a:r>
            <a:endParaRPr lang="en-US" sz="1100" dirty="0"/>
          </a:p>
        </p:txBody>
      </p:sp>
      <p:sp>
        <p:nvSpPr>
          <p:cNvPr id="40" name="Text 38"/>
          <p:cNvSpPr/>
          <p:nvPr/>
        </p:nvSpPr>
        <p:spPr>
          <a:xfrm>
            <a:off x="5669280" y="3282696"/>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Chlorination byproduct</a:t>
            </a:r>
            <a:endParaRPr lang="en-US" sz="1100" dirty="0"/>
          </a:p>
        </p:txBody>
      </p:sp>
      <p:sp>
        <p:nvSpPr>
          <p:cNvPr id="41" name="Shape 39"/>
          <p:cNvSpPr/>
          <p:nvPr/>
        </p:nvSpPr>
        <p:spPr>
          <a:xfrm>
            <a:off x="4754880" y="3712464"/>
            <a:ext cx="4114800" cy="347472"/>
          </a:xfrm>
          <a:prstGeom prst="rect">
            <a:avLst/>
          </a:prstGeom>
          <a:solidFill>
            <a:srgbClr val="E3F0FF"/>
          </a:solidFill>
          <a:ln w="6350">
            <a:solidFill>
              <a:srgbClr val="BBDEFB"/>
            </a:solidFill>
            <a:prstDash val="solid"/>
          </a:ln>
        </p:spPr>
      </p:sp>
      <p:sp>
        <p:nvSpPr>
          <p:cNvPr id="42" name="Text 40"/>
          <p:cNvSpPr/>
          <p:nvPr/>
        </p:nvSpPr>
        <p:spPr>
          <a:xfrm>
            <a:off x="4828032" y="3712464"/>
            <a:ext cx="914400" cy="34747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Turbidity: </a:t>
            </a:r>
            <a:endParaRPr lang="en-US" sz="1100" dirty="0"/>
          </a:p>
        </p:txBody>
      </p:sp>
      <p:sp>
        <p:nvSpPr>
          <p:cNvPr id="43" name="Text 41"/>
          <p:cNvSpPr/>
          <p:nvPr/>
        </p:nvSpPr>
        <p:spPr>
          <a:xfrm>
            <a:off x="5669280" y="3712464"/>
            <a:ext cx="3063240" cy="347472"/>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Water clarity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Exploratory Data Analysis (EDA)</a:t>
            </a:r>
            <a:endParaRPr lang="en-US" sz="2600" dirty="0"/>
          </a:p>
        </p:txBody>
      </p:sp>
      <p:pic>
        <p:nvPicPr>
          <p:cNvPr id="4" name="Image 0" descr="/home/claude/images/fig_0.png"/>
          <p:cNvPicPr>
            <a:picLocks noChangeAspect="1"/>
          </p:cNvPicPr>
          <p:nvPr/>
        </p:nvPicPr>
        <p:blipFill>
          <a:blip r:embed="rId3"/>
          <a:stretch>
            <a:fillRect/>
          </a:stretch>
        </p:blipFill>
        <p:spPr>
          <a:xfrm>
            <a:off x="274320" y="777240"/>
            <a:ext cx="8595360" cy="2834640"/>
          </a:xfrm>
          <a:prstGeom prst="rect">
            <a:avLst/>
          </a:prstGeom>
        </p:spPr>
      </p:pic>
      <p:sp>
        <p:nvSpPr>
          <p:cNvPr id="5" name="Text 2"/>
          <p:cNvSpPr/>
          <p:nvPr/>
        </p:nvSpPr>
        <p:spPr>
          <a:xfrm>
            <a:off x="274320" y="3657600"/>
            <a:ext cx="8595360" cy="27432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Figure 1: Class Distribution (left) — 1,998 non-potable vs 1,278 potable  |  pH Distribution by class (right)</a:t>
            </a:r>
            <a:endParaRPr lang="en-US" sz="1000" dirty="0"/>
          </a:p>
        </p:txBody>
      </p:sp>
      <p:sp>
        <p:nvSpPr>
          <p:cNvPr id="6" name="Shape 3"/>
          <p:cNvSpPr/>
          <p:nvPr/>
        </p:nvSpPr>
        <p:spPr>
          <a:xfrm>
            <a:off x="274320" y="4023360"/>
            <a:ext cx="8595360" cy="960120"/>
          </a:xfrm>
          <a:prstGeom prst="rect">
            <a:avLst/>
          </a:prstGeom>
          <a:solidFill>
            <a:srgbClr val="E3F0FF"/>
          </a:solidFill>
          <a:ln/>
        </p:spPr>
      </p:sp>
      <p:sp>
        <p:nvSpPr>
          <p:cNvPr id="7" name="Text 4"/>
          <p:cNvSpPr/>
          <p:nvPr/>
        </p:nvSpPr>
        <p:spPr>
          <a:xfrm>
            <a:off x="457200" y="4069080"/>
            <a:ext cx="8229600" cy="868680"/>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Key Findings: </a:t>
            </a:r>
            <a:r>
              <a:rPr lang="en-US" sz="1200" dirty="0">
                <a:solidFill>
                  <a:srgbClr val="546E7A"/>
                </a:solidFill>
                <a:latin typeface="Calibri" pitchFamily="34" charset="0"/>
                <a:ea typeface="Calibri" pitchFamily="34" charset="-122"/>
                <a:cs typeface="Calibri" pitchFamily="34" charset="-120"/>
              </a:rPr>
              <a:t>Dataset is imbalanced (61% non-potable vs 39% potable)  |  3 features have missing values (pH 15%, Sulfate 24%, Trihalomethanes 5%)  |  pH distributions overlap heavily — no strong single predictor exists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Feature Correlation Heatmap</a:t>
            </a:r>
            <a:endParaRPr lang="en-US" sz="2600" dirty="0"/>
          </a:p>
        </p:txBody>
      </p:sp>
      <p:pic>
        <p:nvPicPr>
          <p:cNvPr id="4" name="Image 0" descr="/home/claude/images/fig_1.png"/>
          <p:cNvPicPr>
            <a:picLocks noChangeAspect="1"/>
          </p:cNvPicPr>
          <p:nvPr/>
        </p:nvPicPr>
        <p:blipFill>
          <a:blip r:embed="rId3"/>
          <a:stretch>
            <a:fillRect/>
          </a:stretch>
        </p:blipFill>
        <p:spPr>
          <a:xfrm>
            <a:off x="548640" y="777240"/>
            <a:ext cx="5303520" cy="3712464"/>
          </a:xfrm>
          <a:prstGeom prst="rect">
            <a:avLst/>
          </a:prstGeom>
        </p:spPr>
      </p:pic>
      <p:sp>
        <p:nvSpPr>
          <p:cNvPr id="5" name="Shape 2"/>
          <p:cNvSpPr/>
          <p:nvPr/>
        </p:nvSpPr>
        <p:spPr>
          <a:xfrm>
            <a:off x="6126480" y="777240"/>
            <a:ext cx="2834640" cy="3712464"/>
          </a:xfrm>
          <a:prstGeom prst="rect">
            <a:avLst/>
          </a:prstGeom>
          <a:solidFill>
            <a:srgbClr val="FFFFFF"/>
          </a:solidFill>
          <a:ln/>
          <a:effectLst>
            <a:outerShdw blurRad="63500" dist="25400" dir="8100000" algn="bl" rotWithShape="0">
              <a:srgbClr val="000000">
                <a:alpha val="12000"/>
              </a:srgbClr>
            </a:outerShdw>
          </a:effectLst>
        </p:spPr>
      </p:sp>
      <p:sp>
        <p:nvSpPr>
          <p:cNvPr id="6" name="Shape 3"/>
          <p:cNvSpPr/>
          <p:nvPr/>
        </p:nvSpPr>
        <p:spPr>
          <a:xfrm>
            <a:off x="6126480" y="777240"/>
            <a:ext cx="2834640" cy="365760"/>
          </a:xfrm>
          <a:prstGeom prst="rect">
            <a:avLst/>
          </a:prstGeom>
          <a:solidFill>
            <a:srgbClr val="1565C0"/>
          </a:solidFill>
          <a:ln/>
        </p:spPr>
      </p:sp>
      <p:sp>
        <p:nvSpPr>
          <p:cNvPr id="7" name="Text 4"/>
          <p:cNvSpPr/>
          <p:nvPr/>
        </p:nvSpPr>
        <p:spPr>
          <a:xfrm>
            <a:off x="6126480" y="777240"/>
            <a:ext cx="283464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this tells us</a:t>
            </a:r>
            <a:endParaRPr lang="en-US" sz="1300" dirty="0"/>
          </a:p>
        </p:txBody>
      </p:sp>
      <p:sp>
        <p:nvSpPr>
          <p:cNvPr id="8" name="Shape 5"/>
          <p:cNvSpPr/>
          <p:nvPr/>
        </p:nvSpPr>
        <p:spPr>
          <a:xfrm>
            <a:off x="6217920" y="1325880"/>
            <a:ext cx="182880" cy="182880"/>
          </a:xfrm>
          <a:prstGeom prst="ellipse">
            <a:avLst/>
          </a:prstGeom>
          <a:solidFill>
            <a:srgbClr val="1565C0"/>
          </a:solidFill>
          <a:ln/>
        </p:spPr>
      </p:sp>
      <p:sp>
        <p:nvSpPr>
          <p:cNvPr id="9" name="Text 6"/>
          <p:cNvSpPr/>
          <p:nvPr/>
        </p:nvSpPr>
        <p:spPr>
          <a:xfrm>
            <a:off x="6492240" y="1280160"/>
            <a:ext cx="2331720" cy="32004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Most correlations are near 0</a:t>
            </a:r>
            <a:endParaRPr lang="en-US" sz="1150" dirty="0"/>
          </a:p>
        </p:txBody>
      </p:sp>
      <p:sp>
        <p:nvSpPr>
          <p:cNvPr id="10" name="Shape 7"/>
          <p:cNvSpPr/>
          <p:nvPr/>
        </p:nvSpPr>
        <p:spPr>
          <a:xfrm>
            <a:off x="6217920" y="1901952"/>
            <a:ext cx="182880" cy="182880"/>
          </a:xfrm>
          <a:prstGeom prst="ellipse">
            <a:avLst/>
          </a:prstGeom>
          <a:solidFill>
            <a:srgbClr val="1565C0"/>
          </a:solidFill>
          <a:ln/>
        </p:spPr>
      </p:sp>
      <p:sp>
        <p:nvSpPr>
          <p:cNvPr id="11" name="Text 8"/>
          <p:cNvSpPr/>
          <p:nvPr/>
        </p:nvSpPr>
        <p:spPr>
          <a:xfrm>
            <a:off x="6492240" y="1856232"/>
            <a:ext cx="2331720" cy="32004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Features are largely independent</a:t>
            </a:r>
            <a:endParaRPr lang="en-US" sz="1150" dirty="0"/>
          </a:p>
        </p:txBody>
      </p:sp>
      <p:sp>
        <p:nvSpPr>
          <p:cNvPr id="12" name="Shape 9"/>
          <p:cNvSpPr/>
          <p:nvPr/>
        </p:nvSpPr>
        <p:spPr>
          <a:xfrm>
            <a:off x="6217920" y="2478024"/>
            <a:ext cx="182880" cy="182880"/>
          </a:xfrm>
          <a:prstGeom prst="ellipse">
            <a:avLst/>
          </a:prstGeom>
          <a:solidFill>
            <a:srgbClr val="1565C0"/>
          </a:solidFill>
          <a:ln/>
        </p:spPr>
      </p:sp>
      <p:sp>
        <p:nvSpPr>
          <p:cNvPr id="13" name="Text 10"/>
          <p:cNvSpPr/>
          <p:nvPr/>
        </p:nvSpPr>
        <p:spPr>
          <a:xfrm>
            <a:off x="6492240" y="2432304"/>
            <a:ext cx="2331720" cy="32004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No single feature strongly predicts potability</a:t>
            </a:r>
            <a:endParaRPr lang="en-US" sz="1150" dirty="0"/>
          </a:p>
        </p:txBody>
      </p:sp>
      <p:sp>
        <p:nvSpPr>
          <p:cNvPr id="14" name="Shape 11"/>
          <p:cNvSpPr/>
          <p:nvPr/>
        </p:nvSpPr>
        <p:spPr>
          <a:xfrm>
            <a:off x="6217920" y="3054096"/>
            <a:ext cx="182880" cy="182880"/>
          </a:xfrm>
          <a:prstGeom prst="ellipse">
            <a:avLst/>
          </a:prstGeom>
          <a:solidFill>
            <a:srgbClr val="1565C0"/>
          </a:solidFill>
          <a:ln/>
        </p:spPr>
      </p:sp>
      <p:sp>
        <p:nvSpPr>
          <p:cNvPr id="15" name="Text 12"/>
          <p:cNvSpPr/>
          <p:nvPr/>
        </p:nvSpPr>
        <p:spPr>
          <a:xfrm>
            <a:off x="6492240" y="3008376"/>
            <a:ext cx="2331720" cy="32004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This makes classification harder</a:t>
            </a:r>
            <a:endParaRPr lang="en-US" sz="1150" dirty="0"/>
          </a:p>
        </p:txBody>
      </p:sp>
      <p:sp>
        <p:nvSpPr>
          <p:cNvPr id="16" name="Shape 13"/>
          <p:cNvSpPr/>
          <p:nvPr/>
        </p:nvSpPr>
        <p:spPr>
          <a:xfrm>
            <a:off x="6217920" y="3630168"/>
            <a:ext cx="182880" cy="182880"/>
          </a:xfrm>
          <a:prstGeom prst="ellipse">
            <a:avLst/>
          </a:prstGeom>
          <a:solidFill>
            <a:srgbClr val="1565C0"/>
          </a:solidFill>
          <a:ln/>
        </p:spPr>
      </p:sp>
      <p:sp>
        <p:nvSpPr>
          <p:cNvPr id="17" name="Text 14"/>
          <p:cNvSpPr/>
          <p:nvPr/>
        </p:nvSpPr>
        <p:spPr>
          <a:xfrm>
            <a:off x="6492240" y="3584448"/>
            <a:ext cx="2331720" cy="32004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No redundant features to remove</a:t>
            </a:r>
            <a:endParaRPr lang="en-US" sz="1150" dirty="0"/>
          </a:p>
        </p:txBody>
      </p:sp>
      <p:sp>
        <p:nvSpPr>
          <p:cNvPr id="18" name="Text 15"/>
          <p:cNvSpPr/>
          <p:nvPr/>
        </p:nvSpPr>
        <p:spPr>
          <a:xfrm>
            <a:off x="274320" y="4572000"/>
            <a:ext cx="8595360" cy="27432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Figure 2: Correlation values near 0 mean features don't strongly predict each other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Preprocessing</a:t>
            </a:r>
            <a:endParaRPr lang="en-US" sz="2600" dirty="0"/>
          </a:p>
        </p:txBody>
      </p:sp>
      <p:sp>
        <p:nvSpPr>
          <p:cNvPr id="4" name="Shape 2"/>
          <p:cNvSpPr/>
          <p:nvPr/>
        </p:nvSpPr>
        <p:spPr>
          <a:xfrm>
            <a:off x="274320" y="822960"/>
            <a:ext cx="8595360" cy="868680"/>
          </a:xfrm>
          <a:prstGeom prst="rect">
            <a:avLst/>
          </a:prstGeom>
          <a:solidFill>
            <a:srgbClr val="FFFFFF"/>
          </a:solidFill>
          <a:ln/>
          <a:effectLst>
            <a:outerShdw blurRad="63500" dist="25400" dir="8100000" algn="bl" rotWithShape="0">
              <a:srgbClr val="000000">
                <a:alpha val="12000"/>
              </a:srgbClr>
            </a:outerShdw>
          </a:effectLst>
        </p:spPr>
      </p:sp>
      <p:sp>
        <p:nvSpPr>
          <p:cNvPr id="5" name="Shape 3"/>
          <p:cNvSpPr/>
          <p:nvPr/>
        </p:nvSpPr>
        <p:spPr>
          <a:xfrm>
            <a:off x="320040" y="987552"/>
            <a:ext cx="502920" cy="502920"/>
          </a:xfrm>
          <a:prstGeom prst="ellipse">
            <a:avLst/>
          </a:prstGeom>
          <a:solidFill>
            <a:srgbClr val="1565C0"/>
          </a:solidFill>
          <a:ln/>
        </p:spPr>
      </p:sp>
      <p:sp>
        <p:nvSpPr>
          <p:cNvPr id="6" name="Text 4"/>
          <p:cNvSpPr/>
          <p:nvPr/>
        </p:nvSpPr>
        <p:spPr>
          <a:xfrm>
            <a:off x="320040" y="987552"/>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60120" y="868680"/>
            <a:ext cx="768096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Handle Missing Values</a:t>
            </a:r>
            <a:endParaRPr lang="en-US" sz="1400" dirty="0"/>
          </a:p>
        </p:txBody>
      </p:sp>
      <p:sp>
        <p:nvSpPr>
          <p:cNvPr id="8" name="Text 6"/>
          <p:cNvSpPr/>
          <p:nvPr/>
        </p:nvSpPr>
        <p:spPr>
          <a:xfrm>
            <a:off x="960120" y="1170432"/>
            <a:ext cx="7680960" cy="45720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pH, Sulfate, and Trihalomethanes had missing data. These were filled using the mean of each column. After filling: 0 missing values remain.</a:t>
            </a:r>
            <a:endParaRPr lang="en-US" sz="1150" dirty="0"/>
          </a:p>
        </p:txBody>
      </p:sp>
      <p:sp>
        <p:nvSpPr>
          <p:cNvPr id="9" name="Shape 7"/>
          <p:cNvSpPr/>
          <p:nvPr/>
        </p:nvSpPr>
        <p:spPr>
          <a:xfrm>
            <a:off x="274320" y="1828800"/>
            <a:ext cx="8595360" cy="868680"/>
          </a:xfrm>
          <a:prstGeom prst="rect">
            <a:avLst/>
          </a:prstGeom>
          <a:solidFill>
            <a:srgbClr val="E3F0FF"/>
          </a:solidFill>
          <a:ln/>
          <a:effectLst>
            <a:outerShdw blurRad="63500" dist="25400" dir="8100000" algn="bl" rotWithShape="0">
              <a:srgbClr val="000000">
                <a:alpha val="12000"/>
              </a:srgbClr>
            </a:outerShdw>
          </a:effectLst>
        </p:spPr>
      </p:sp>
      <p:sp>
        <p:nvSpPr>
          <p:cNvPr id="10" name="Shape 8"/>
          <p:cNvSpPr/>
          <p:nvPr/>
        </p:nvSpPr>
        <p:spPr>
          <a:xfrm>
            <a:off x="320040" y="1993392"/>
            <a:ext cx="502920" cy="502920"/>
          </a:xfrm>
          <a:prstGeom prst="ellipse">
            <a:avLst/>
          </a:prstGeom>
          <a:solidFill>
            <a:srgbClr val="0277BD"/>
          </a:solidFill>
          <a:ln/>
        </p:spPr>
      </p:sp>
      <p:sp>
        <p:nvSpPr>
          <p:cNvPr id="11" name="Text 9"/>
          <p:cNvSpPr/>
          <p:nvPr/>
        </p:nvSpPr>
        <p:spPr>
          <a:xfrm>
            <a:off x="320040" y="1993392"/>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960120" y="1874520"/>
            <a:ext cx="768096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Separate Features and Target</a:t>
            </a:r>
            <a:endParaRPr lang="en-US" sz="1400" dirty="0"/>
          </a:p>
        </p:txBody>
      </p:sp>
      <p:sp>
        <p:nvSpPr>
          <p:cNvPr id="13" name="Text 11"/>
          <p:cNvSpPr/>
          <p:nvPr/>
        </p:nvSpPr>
        <p:spPr>
          <a:xfrm>
            <a:off x="960120" y="2176272"/>
            <a:ext cx="7680960" cy="45720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9 features (X) were separated from the target Potability (y). Target values: 0.0 = non-potable, 1.0 = potable.</a:t>
            </a:r>
            <a:endParaRPr lang="en-US" sz="1150" dirty="0"/>
          </a:p>
        </p:txBody>
      </p:sp>
      <p:sp>
        <p:nvSpPr>
          <p:cNvPr id="14" name="Shape 12"/>
          <p:cNvSpPr/>
          <p:nvPr/>
        </p:nvSpPr>
        <p:spPr>
          <a:xfrm>
            <a:off x="274320" y="2834640"/>
            <a:ext cx="8595360" cy="868680"/>
          </a:xfrm>
          <a:prstGeom prst="rect">
            <a:avLst/>
          </a:prstGeom>
          <a:solidFill>
            <a:srgbClr val="FFFFFF"/>
          </a:solidFill>
          <a:ln/>
          <a:effectLst>
            <a:outerShdw blurRad="63500" dist="25400" dir="8100000" algn="bl" rotWithShape="0">
              <a:srgbClr val="000000">
                <a:alpha val="12000"/>
              </a:srgbClr>
            </a:outerShdw>
          </a:effectLst>
        </p:spPr>
      </p:sp>
      <p:sp>
        <p:nvSpPr>
          <p:cNvPr id="15" name="Shape 13"/>
          <p:cNvSpPr/>
          <p:nvPr/>
        </p:nvSpPr>
        <p:spPr>
          <a:xfrm>
            <a:off x="320040" y="2999232"/>
            <a:ext cx="502920" cy="502920"/>
          </a:xfrm>
          <a:prstGeom prst="ellipse">
            <a:avLst/>
          </a:prstGeom>
          <a:solidFill>
            <a:srgbClr val="01579B"/>
          </a:solidFill>
          <a:ln/>
        </p:spPr>
      </p:sp>
      <p:sp>
        <p:nvSpPr>
          <p:cNvPr id="16" name="Text 14"/>
          <p:cNvSpPr/>
          <p:nvPr/>
        </p:nvSpPr>
        <p:spPr>
          <a:xfrm>
            <a:off x="320040" y="2999232"/>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960120" y="2880360"/>
            <a:ext cx="768096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Train / Test Split (80/20)</a:t>
            </a:r>
            <a:endParaRPr lang="en-US" sz="1400" dirty="0"/>
          </a:p>
        </p:txBody>
      </p:sp>
      <p:sp>
        <p:nvSpPr>
          <p:cNvPr id="18" name="Text 16"/>
          <p:cNvSpPr/>
          <p:nvPr/>
        </p:nvSpPr>
        <p:spPr>
          <a:xfrm>
            <a:off x="960120" y="3182112"/>
            <a:ext cx="7680960" cy="45720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2,620 training samples and 656 testing samples. Random seed = 42 for reproducibility.</a:t>
            </a:r>
            <a:endParaRPr lang="en-US" sz="1150" dirty="0"/>
          </a:p>
        </p:txBody>
      </p:sp>
      <p:sp>
        <p:nvSpPr>
          <p:cNvPr id="19" name="Shape 17"/>
          <p:cNvSpPr/>
          <p:nvPr/>
        </p:nvSpPr>
        <p:spPr>
          <a:xfrm>
            <a:off x="274320" y="3840480"/>
            <a:ext cx="8595360" cy="868680"/>
          </a:xfrm>
          <a:prstGeom prst="rect">
            <a:avLst/>
          </a:prstGeom>
          <a:solidFill>
            <a:srgbClr val="E3F0FF"/>
          </a:solidFill>
          <a:ln/>
          <a:effectLst>
            <a:outerShdw blurRad="63500" dist="25400" dir="8100000" algn="bl" rotWithShape="0">
              <a:srgbClr val="000000">
                <a:alpha val="12000"/>
              </a:srgbClr>
            </a:outerShdw>
          </a:effectLst>
        </p:spPr>
      </p:sp>
      <p:sp>
        <p:nvSpPr>
          <p:cNvPr id="20" name="Shape 18"/>
          <p:cNvSpPr/>
          <p:nvPr/>
        </p:nvSpPr>
        <p:spPr>
          <a:xfrm>
            <a:off x="320040" y="4005072"/>
            <a:ext cx="502920" cy="502920"/>
          </a:xfrm>
          <a:prstGeom prst="ellipse">
            <a:avLst/>
          </a:prstGeom>
          <a:solidFill>
            <a:srgbClr val="014B8A"/>
          </a:solidFill>
          <a:ln/>
        </p:spPr>
      </p:sp>
      <p:sp>
        <p:nvSpPr>
          <p:cNvPr id="21" name="Text 19"/>
          <p:cNvSpPr/>
          <p:nvPr/>
        </p:nvSpPr>
        <p:spPr>
          <a:xfrm>
            <a:off x="320040" y="4005072"/>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960120" y="3886200"/>
            <a:ext cx="768096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Feature Scaling</a:t>
            </a:r>
            <a:endParaRPr lang="en-US" sz="1400" dirty="0"/>
          </a:p>
        </p:txBody>
      </p:sp>
      <p:sp>
        <p:nvSpPr>
          <p:cNvPr id="23" name="Text 21"/>
          <p:cNvSpPr/>
          <p:nvPr/>
        </p:nvSpPr>
        <p:spPr>
          <a:xfrm>
            <a:off x="960120" y="4187952"/>
            <a:ext cx="7680960" cy="45720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StandardScaler applied — all features transformed to mean ≈ 0 and std ≈ 1. Prevents large-value features from dominating.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Neural Network Architecture &amp; Training</a:t>
            </a:r>
            <a:endParaRPr lang="en-US" sz="2600" dirty="0"/>
          </a:p>
        </p:txBody>
      </p:sp>
      <p:sp>
        <p:nvSpPr>
          <p:cNvPr id="4" name="Shape 2"/>
          <p:cNvSpPr/>
          <p:nvPr/>
        </p:nvSpPr>
        <p:spPr>
          <a:xfrm>
            <a:off x="274320" y="822960"/>
            <a:ext cx="4114800" cy="685800"/>
          </a:xfrm>
          <a:prstGeom prst="rect">
            <a:avLst/>
          </a:prstGeom>
          <a:solidFill>
            <a:srgbClr val="0277BD"/>
          </a:solidFill>
          <a:ln/>
          <a:effectLst>
            <a:outerShdw blurRad="63500" dist="25400" dir="8100000" algn="bl" rotWithShape="0">
              <a:srgbClr val="000000">
                <a:alpha val="12000"/>
              </a:srgbClr>
            </a:outerShdw>
          </a:effectLst>
        </p:spPr>
      </p:sp>
      <p:sp>
        <p:nvSpPr>
          <p:cNvPr id="5" name="Text 3"/>
          <p:cNvSpPr/>
          <p:nvPr/>
        </p:nvSpPr>
        <p:spPr>
          <a:xfrm>
            <a:off x="274320" y="822960"/>
            <a:ext cx="4114800" cy="38404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Input Layer</a:t>
            </a:r>
            <a:endParaRPr lang="en-US" sz="1500" dirty="0"/>
          </a:p>
        </p:txBody>
      </p:sp>
      <p:sp>
        <p:nvSpPr>
          <p:cNvPr id="6" name="Text 4"/>
          <p:cNvSpPr/>
          <p:nvPr/>
        </p:nvSpPr>
        <p:spPr>
          <a:xfrm>
            <a:off x="274320" y="1188720"/>
            <a:ext cx="4114800" cy="27432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9 features</a:t>
            </a:r>
            <a:endParaRPr lang="en-US" sz="1100" dirty="0"/>
          </a:p>
        </p:txBody>
      </p:sp>
      <p:sp>
        <p:nvSpPr>
          <p:cNvPr id="7" name="Shape 5"/>
          <p:cNvSpPr/>
          <p:nvPr/>
        </p:nvSpPr>
        <p:spPr>
          <a:xfrm>
            <a:off x="2286000" y="1508760"/>
            <a:ext cx="914" cy="320040"/>
          </a:xfrm>
          <a:prstGeom prst="line">
            <a:avLst/>
          </a:prstGeom>
          <a:noFill/>
          <a:ln w="25400">
            <a:solidFill>
              <a:srgbClr val="1565C0"/>
            </a:solidFill>
            <a:prstDash val="solid"/>
          </a:ln>
        </p:spPr>
      </p:sp>
      <p:sp>
        <p:nvSpPr>
          <p:cNvPr id="8" name="Shape 6"/>
          <p:cNvSpPr/>
          <p:nvPr/>
        </p:nvSpPr>
        <p:spPr>
          <a:xfrm>
            <a:off x="274320" y="1691640"/>
            <a:ext cx="4114800" cy="685800"/>
          </a:xfrm>
          <a:prstGeom prst="rect">
            <a:avLst/>
          </a:prstGeom>
          <a:solidFill>
            <a:srgbClr val="1565C0"/>
          </a:solidFill>
          <a:ln/>
          <a:effectLst>
            <a:outerShdw blurRad="63500" dist="25400" dir="8100000" algn="bl" rotWithShape="0">
              <a:srgbClr val="000000">
                <a:alpha val="12000"/>
              </a:srgbClr>
            </a:outerShdw>
          </a:effectLst>
        </p:spPr>
      </p:sp>
      <p:sp>
        <p:nvSpPr>
          <p:cNvPr id="9" name="Text 7"/>
          <p:cNvSpPr/>
          <p:nvPr/>
        </p:nvSpPr>
        <p:spPr>
          <a:xfrm>
            <a:off x="274320" y="1691640"/>
            <a:ext cx="4114800" cy="38404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Hidden Layer 1</a:t>
            </a:r>
            <a:endParaRPr lang="en-US" sz="1500" dirty="0"/>
          </a:p>
        </p:txBody>
      </p:sp>
      <p:sp>
        <p:nvSpPr>
          <p:cNvPr id="10" name="Text 8"/>
          <p:cNvSpPr/>
          <p:nvPr/>
        </p:nvSpPr>
        <p:spPr>
          <a:xfrm>
            <a:off x="274320" y="2057400"/>
            <a:ext cx="4114800" cy="27432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64 neurons — ReLU</a:t>
            </a:r>
            <a:endParaRPr lang="en-US" sz="1100" dirty="0"/>
          </a:p>
        </p:txBody>
      </p:sp>
      <p:sp>
        <p:nvSpPr>
          <p:cNvPr id="11" name="Shape 9"/>
          <p:cNvSpPr/>
          <p:nvPr/>
        </p:nvSpPr>
        <p:spPr>
          <a:xfrm>
            <a:off x="2286000" y="2377440"/>
            <a:ext cx="914" cy="320040"/>
          </a:xfrm>
          <a:prstGeom prst="line">
            <a:avLst/>
          </a:prstGeom>
          <a:noFill/>
          <a:ln w="25400">
            <a:solidFill>
              <a:srgbClr val="1565C0"/>
            </a:solidFill>
            <a:prstDash val="solid"/>
          </a:ln>
        </p:spPr>
      </p:sp>
      <p:sp>
        <p:nvSpPr>
          <p:cNvPr id="12" name="Shape 10"/>
          <p:cNvSpPr/>
          <p:nvPr/>
        </p:nvSpPr>
        <p:spPr>
          <a:xfrm>
            <a:off x="274320" y="2560320"/>
            <a:ext cx="4114800" cy="685800"/>
          </a:xfrm>
          <a:prstGeom prst="rect">
            <a:avLst/>
          </a:prstGeom>
          <a:solidFill>
            <a:srgbClr val="1976D2"/>
          </a:solidFill>
          <a:ln/>
          <a:effectLst>
            <a:outerShdw blurRad="63500" dist="25400" dir="8100000" algn="bl" rotWithShape="0">
              <a:srgbClr val="000000">
                <a:alpha val="12000"/>
              </a:srgbClr>
            </a:outerShdw>
          </a:effectLst>
        </p:spPr>
      </p:sp>
      <p:sp>
        <p:nvSpPr>
          <p:cNvPr id="13" name="Text 11"/>
          <p:cNvSpPr/>
          <p:nvPr/>
        </p:nvSpPr>
        <p:spPr>
          <a:xfrm>
            <a:off x="274320" y="2560320"/>
            <a:ext cx="4114800" cy="38404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Hidden Layer 2</a:t>
            </a:r>
            <a:endParaRPr lang="en-US" sz="1500" dirty="0"/>
          </a:p>
        </p:txBody>
      </p:sp>
      <p:sp>
        <p:nvSpPr>
          <p:cNvPr id="14" name="Text 12"/>
          <p:cNvSpPr/>
          <p:nvPr/>
        </p:nvSpPr>
        <p:spPr>
          <a:xfrm>
            <a:off x="274320" y="2926080"/>
            <a:ext cx="4114800" cy="27432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32 neurons — ReLU</a:t>
            </a:r>
            <a:endParaRPr lang="en-US" sz="1100" dirty="0"/>
          </a:p>
        </p:txBody>
      </p:sp>
      <p:sp>
        <p:nvSpPr>
          <p:cNvPr id="15" name="Shape 13"/>
          <p:cNvSpPr/>
          <p:nvPr/>
        </p:nvSpPr>
        <p:spPr>
          <a:xfrm>
            <a:off x="2286000" y="3246120"/>
            <a:ext cx="914" cy="320040"/>
          </a:xfrm>
          <a:prstGeom prst="line">
            <a:avLst/>
          </a:prstGeom>
          <a:noFill/>
          <a:ln w="25400">
            <a:solidFill>
              <a:srgbClr val="1565C0"/>
            </a:solidFill>
            <a:prstDash val="solid"/>
          </a:ln>
        </p:spPr>
      </p:sp>
      <p:sp>
        <p:nvSpPr>
          <p:cNvPr id="16" name="Shape 14"/>
          <p:cNvSpPr/>
          <p:nvPr/>
        </p:nvSpPr>
        <p:spPr>
          <a:xfrm>
            <a:off x="274320" y="3429000"/>
            <a:ext cx="4114800" cy="685800"/>
          </a:xfrm>
          <a:prstGeom prst="rect">
            <a:avLst/>
          </a:prstGeom>
          <a:solidFill>
            <a:srgbClr val="2E7D32"/>
          </a:solidFill>
          <a:ln/>
          <a:effectLst>
            <a:outerShdw blurRad="63500" dist="25400" dir="8100000" algn="bl" rotWithShape="0">
              <a:srgbClr val="000000">
                <a:alpha val="12000"/>
              </a:srgbClr>
            </a:outerShdw>
          </a:effectLst>
        </p:spPr>
      </p:sp>
      <p:sp>
        <p:nvSpPr>
          <p:cNvPr id="17" name="Text 15"/>
          <p:cNvSpPr/>
          <p:nvPr/>
        </p:nvSpPr>
        <p:spPr>
          <a:xfrm>
            <a:off x="274320" y="3429000"/>
            <a:ext cx="4114800" cy="38404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Output Layer</a:t>
            </a:r>
            <a:endParaRPr lang="en-US" sz="1500" dirty="0"/>
          </a:p>
        </p:txBody>
      </p:sp>
      <p:sp>
        <p:nvSpPr>
          <p:cNvPr id="18" name="Text 16"/>
          <p:cNvSpPr/>
          <p:nvPr/>
        </p:nvSpPr>
        <p:spPr>
          <a:xfrm>
            <a:off x="274320" y="3794760"/>
            <a:ext cx="4114800" cy="274320"/>
          </a:xfrm>
          <a:prstGeom prst="rect">
            <a:avLst/>
          </a:prstGeom>
          <a:noFill/>
          <a:ln/>
        </p:spPr>
        <p:txBody>
          <a:bodyPr wrap="square" rtlCol="0" anchor="t"/>
          <a:lstStyle/>
          <a:p>
            <a:pPr marL="0" indent="0" algn="ctr">
              <a:buNone/>
            </a:pPr>
            <a:r>
              <a:rPr lang="en-US" sz="1100" dirty="0">
                <a:solidFill>
                  <a:srgbClr val="E3F2FD"/>
                </a:solidFill>
                <a:latin typeface="Calibri" pitchFamily="34" charset="0"/>
                <a:ea typeface="Calibri" pitchFamily="34" charset="-122"/>
                <a:cs typeface="Calibri" pitchFamily="34" charset="-120"/>
              </a:rPr>
              <a:t>1 value (0–1 score)</a:t>
            </a:r>
            <a:endParaRPr lang="en-US" sz="1100" dirty="0"/>
          </a:p>
        </p:txBody>
      </p:sp>
      <p:sp>
        <p:nvSpPr>
          <p:cNvPr id="19" name="Text 17"/>
          <p:cNvSpPr/>
          <p:nvPr/>
        </p:nvSpPr>
        <p:spPr>
          <a:xfrm>
            <a:off x="274320" y="1463040"/>
            <a:ext cx="4114800" cy="22860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  ↓  ↓  ↓  ↓  ↓  ↓  ↓  ↓</a:t>
            </a:r>
            <a:endParaRPr lang="en-US" sz="1000" dirty="0"/>
          </a:p>
        </p:txBody>
      </p:sp>
      <p:sp>
        <p:nvSpPr>
          <p:cNvPr id="20" name="Text 18"/>
          <p:cNvSpPr/>
          <p:nvPr/>
        </p:nvSpPr>
        <p:spPr>
          <a:xfrm>
            <a:off x="274320" y="2331720"/>
            <a:ext cx="4114800" cy="22860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  ↓  ↓  ↓  ↓  ↓  ↓  ↓</a:t>
            </a:r>
            <a:endParaRPr lang="en-US" sz="1000" dirty="0"/>
          </a:p>
        </p:txBody>
      </p:sp>
      <p:sp>
        <p:nvSpPr>
          <p:cNvPr id="21" name="Text 19"/>
          <p:cNvSpPr/>
          <p:nvPr/>
        </p:nvSpPr>
        <p:spPr>
          <a:xfrm>
            <a:off x="274320" y="3200400"/>
            <a:ext cx="4114800" cy="228600"/>
          </a:xfrm>
          <a:prstGeom prst="rect">
            <a:avLst/>
          </a:prstGeom>
          <a:noFill/>
          <a:ln/>
        </p:spPr>
        <p:txBody>
          <a:bodyPr wrap="square" rtlCol="0" anchor="ctr"/>
          <a:lstStyle/>
          <a:p>
            <a:pPr marL="0" indent="0" algn="ctr">
              <a:buNone/>
            </a:pPr>
            <a:r>
              <a:rPr lang="en-US" sz="1000" dirty="0">
                <a:solidFill>
                  <a:srgbClr val="546E7A"/>
                </a:solidFill>
                <a:latin typeface="Calibri" pitchFamily="34" charset="0"/>
                <a:ea typeface="Calibri" pitchFamily="34" charset="-122"/>
                <a:cs typeface="Calibri" pitchFamily="34" charset="-120"/>
              </a:rPr>
              <a:t>↓  ↓  ↓  ↓  ↓  ↓  ↓  ↓</a:t>
            </a:r>
            <a:endParaRPr lang="en-US" sz="1000" dirty="0"/>
          </a:p>
        </p:txBody>
      </p:sp>
      <p:sp>
        <p:nvSpPr>
          <p:cNvPr id="22" name="Shape 20"/>
          <p:cNvSpPr/>
          <p:nvPr/>
        </p:nvSpPr>
        <p:spPr>
          <a:xfrm>
            <a:off x="4663440" y="822960"/>
            <a:ext cx="4206240" cy="3291840"/>
          </a:xfrm>
          <a:prstGeom prst="rect">
            <a:avLst/>
          </a:prstGeom>
          <a:solidFill>
            <a:srgbClr val="FFFFFF"/>
          </a:solidFill>
          <a:ln/>
          <a:effectLst>
            <a:outerShdw blurRad="63500" dist="25400" dir="8100000" algn="bl" rotWithShape="0">
              <a:srgbClr val="000000">
                <a:alpha val="12000"/>
              </a:srgbClr>
            </a:outerShdw>
          </a:effectLst>
        </p:spPr>
      </p:sp>
      <p:sp>
        <p:nvSpPr>
          <p:cNvPr id="23" name="Shape 21"/>
          <p:cNvSpPr/>
          <p:nvPr/>
        </p:nvSpPr>
        <p:spPr>
          <a:xfrm>
            <a:off x="4663440" y="822960"/>
            <a:ext cx="4206240" cy="384048"/>
          </a:xfrm>
          <a:prstGeom prst="rect">
            <a:avLst/>
          </a:prstGeom>
          <a:solidFill>
            <a:srgbClr val="E53935"/>
          </a:solidFill>
          <a:ln/>
        </p:spPr>
      </p:sp>
      <p:sp>
        <p:nvSpPr>
          <p:cNvPr id="24" name="Text 22"/>
          <p:cNvSpPr/>
          <p:nvPr/>
        </p:nvSpPr>
        <p:spPr>
          <a:xfrm>
            <a:off x="4663440" y="822960"/>
            <a:ext cx="42062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Training Settings</a:t>
            </a:r>
            <a:endParaRPr lang="en-US" sz="1400" dirty="0"/>
          </a:p>
        </p:txBody>
      </p:sp>
      <p:sp>
        <p:nvSpPr>
          <p:cNvPr id="25" name="Shape 23"/>
          <p:cNvSpPr/>
          <p:nvPr/>
        </p:nvSpPr>
        <p:spPr>
          <a:xfrm>
            <a:off x="4663440" y="1298448"/>
            <a:ext cx="4206240" cy="420624"/>
          </a:xfrm>
          <a:prstGeom prst="rect">
            <a:avLst/>
          </a:prstGeom>
          <a:solidFill>
            <a:srgbClr val="E3F0FF"/>
          </a:solidFill>
          <a:ln/>
        </p:spPr>
      </p:sp>
      <p:sp>
        <p:nvSpPr>
          <p:cNvPr id="26" name="Text 24"/>
          <p:cNvSpPr/>
          <p:nvPr/>
        </p:nvSpPr>
        <p:spPr>
          <a:xfrm>
            <a:off x="4754880" y="1298448"/>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Optimizer</a:t>
            </a:r>
            <a:endParaRPr lang="en-US" sz="1200" dirty="0"/>
          </a:p>
        </p:txBody>
      </p:sp>
      <p:sp>
        <p:nvSpPr>
          <p:cNvPr id="27" name="Text 25"/>
          <p:cNvSpPr/>
          <p:nvPr/>
        </p:nvSpPr>
        <p:spPr>
          <a:xfrm>
            <a:off x="6766560" y="1298448"/>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Adam</a:t>
            </a:r>
            <a:endParaRPr lang="en-US" sz="1200" dirty="0"/>
          </a:p>
        </p:txBody>
      </p:sp>
      <p:sp>
        <p:nvSpPr>
          <p:cNvPr id="28" name="Shape 26"/>
          <p:cNvSpPr/>
          <p:nvPr/>
        </p:nvSpPr>
        <p:spPr>
          <a:xfrm>
            <a:off x="4663440" y="1764792"/>
            <a:ext cx="4206240" cy="420624"/>
          </a:xfrm>
          <a:prstGeom prst="rect">
            <a:avLst/>
          </a:prstGeom>
          <a:solidFill>
            <a:srgbClr val="FFFFFF"/>
          </a:solidFill>
          <a:ln/>
        </p:spPr>
      </p:sp>
      <p:sp>
        <p:nvSpPr>
          <p:cNvPr id="29" name="Text 27"/>
          <p:cNvSpPr/>
          <p:nvPr/>
        </p:nvSpPr>
        <p:spPr>
          <a:xfrm>
            <a:off x="4754880" y="1764792"/>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Regularization</a:t>
            </a:r>
            <a:endParaRPr lang="en-US" sz="1200" dirty="0"/>
          </a:p>
        </p:txBody>
      </p:sp>
      <p:sp>
        <p:nvSpPr>
          <p:cNvPr id="30" name="Text 28"/>
          <p:cNvSpPr/>
          <p:nvPr/>
        </p:nvSpPr>
        <p:spPr>
          <a:xfrm>
            <a:off x="6766560" y="1764792"/>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L2 (alpha = 0.001)</a:t>
            </a:r>
            <a:endParaRPr lang="en-US" sz="1200" dirty="0"/>
          </a:p>
        </p:txBody>
      </p:sp>
      <p:sp>
        <p:nvSpPr>
          <p:cNvPr id="31" name="Shape 29"/>
          <p:cNvSpPr/>
          <p:nvPr/>
        </p:nvSpPr>
        <p:spPr>
          <a:xfrm>
            <a:off x="4663440" y="2231136"/>
            <a:ext cx="4206240" cy="420624"/>
          </a:xfrm>
          <a:prstGeom prst="rect">
            <a:avLst/>
          </a:prstGeom>
          <a:solidFill>
            <a:srgbClr val="E3F0FF"/>
          </a:solidFill>
          <a:ln/>
        </p:spPr>
      </p:sp>
      <p:sp>
        <p:nvSpPr>
          <p:cNvPr id="32" name="Text 30"/>
          <p:cNvSpPr/>
          <p:nvPr/>
        </p:nvSpPr>
        <p:spPr>
          <a:xfrm>
            <a:off x="4754880" y="2231136"/>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Max Epochs</a:t>
            </a:r>
            <a:endParaRPr lang="en-US" sz="1200" dirty="0"/>
          </a:p>
        </p:txBody>
      </p:sp>
      <p:sp>
        <p:nvSpPr>
          <p:cNvPr id="33" name="Text 31"/>
          <p:cNvSpPr/>
          <p:nvPr/>
        </p:nvSpPr>
        <p:spPr>
          <a:xfrm>
            <a:off x="6766560" y="2231136"/>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500</a:t>
            </a:r>
            <a:endParaRPr lang="en-US" sz="1200" dirty="0"/>
          </a:p>
        </p:txBody>
      </p:sp>
      <p:sp>
        <p:nvSpPr>
          <p:cNvPr id="34" name="Shape 32"/>
          <p:cNvSpPr/>
          <p:nvPr/>
        </p:nvSpPr>
        <p:spPr>
          <a:xfrm>
            <a:off x="4663440" y="2697480"/>
            <a:ext cx="4206240" cy="420624"/>
          </a:xfrm>
          <a:prstGeom prst="rect">
            <a:avLst/>
          </a:prstGeom>
          <a:solidFill>
            <a:srgbClr val="FFFFFF"/>
          </a:solidFill>
          <a:ln/>
        </p:spPr>
      </p:sp>
      <p:sp>
        <p:nvSpPr>
          <p:cNvPr id="35" name="Text 33"/>
          <p:cNvSpPr/>
          <p:nvPr/>
        </p:nvSpPr>
        <p:spPr>
          <a:xfrm>
            <a:off x="4754880" y="2697480"/>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Actual Epochs</a:t>
            </a:r>
            <a:endParaRPr lang="en-US" sz="1200" dirty="0"/>
          </a:p>
        </p:txBody>
      </p:sp>
      <p:sp>
        <p:nvSpPr>
          <p:cNvPr id="36" name="Text 34"/>
          <p:cNvSpPr/>
          <p:nvPr/>
        </p:nvSpPr>
        <p:spPr>
          <a:xfrm>
            <a:off x="6766560" y="2697480"/>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59 (early stopping)</a:t>
            </a:r>
            <a:endParaRPr lang="en-US" sz="1200" dirty="0"/>
          </a:p>
        </p:txBody>
      </p:sp>
      <p:sp>
        <p:nvSpPr>
          <p:cNvPr id="37" name="Shape 35"/>
          <p:cNvSpPr/>
          <p:nvPr/>
        </p:nvSpPr>
        <p:spPr>
          <a:xfrm>
            <a:off x="4663440" y="3163824"/>
            <a:ext cx="4206240" cy="420624"/>
          </a:xfrm>
          <a:prstGeom prst="rect">
            <a:avLst/>
          </a:prstGeom>
          <a:solidFill>
            <a:srgbClr val="E3F0FF"/>
          </a:solidFill>
          <a:ln/>
        </p:spPr>
      </p:sp>
      <p:sp>
        <p:nvSpPr>
          <p:cNvPr id="38" name="Text 36"/>
          <p:cNvSpPr/>
          <p:nvPr/>
        </p:nvSpPr>
        <p:spPr>
          <a:xfrm>
            <a:off x="4754880" y="3163824"/>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Final Train Loss</a:t>
            </a:r>
            <a:endParaRPr lang="en-US" sz="1200" dirty="0"/>
          </a:p>
        </p:txBody>
      </p:sp>
      <p:sp>
        <p:nvSpPr>
          <p:cNvPr id="39" name="Text 37"/>
          <p:cNvSpPr/>
          <p:nvPr/>
        </p:nvSpPr>
        <p:spPr>
          <a:xfrm>
            <a:off x="6766560" y="3163824"/>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0.0760</a:t>
            </a:r>
            <a:endParaRPr lang="en-US" sz="1200" dirty="0"/>
          </a:p>
        </p:txBody>
      </p:sp>
      <p:sp>
        <p:nvSpPr>
          <p:cNvPr id="40" name="Shape 38"/>
          <p:cNvSpPr/>
          <p:nvPr/>
        </p:nvSpPr>
        <p:spPr>
          <a:xfrm>
            <a:off x="4663440" y="3630168"/>
            <a:ext cx="4206240" cy="420624"/>
          </a:xfrm>
          <a:prstGeom prst="rect">
            <a:avLst/>
          </a:prstGeom>
          <a:solidFill>
            <a:srgbClr val="FFFFFF"/>
          </a:solidFill>
          <a:ln/>
        </p:spPr>
      </p:sp>
      <p:sp>
        <p:nvSpPr>
          <p:cNvPr id="41" name="Text 39"/>
          <p:cNvSpPr/>
          <p:nvPr/>
        </p:nvSpPr>
        <p:spPr>
          <a:xfrm>
            <a:off x="4754880" y="3630168"/>
            <a:ext cx="2011680" cy="420624"/>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Random State</a:t>
            </a:r>
            <a:endParaRPr lang="en-US" sz="1200" dirty="0"/>
          </a:p>
        </p:txBody>
      </p:sp>
      <p:sp>
        <p:nvSpPr>
          <p:cNvPr id="42" name="Text 40"/>
          <p:cNvSpPr/>
          <p:nvPr/>
        </p:nvSpPr>
        <p:spPr>
          <a:xfrm>
            <a:off x="6766560" y="3630168"/>
            <a:ext cx="2011680" cy="420624"/>
          </a:xfrm>
          <a:prstGeom prst="rect">
            <a:avLst/>
          </a:prstGeom>
          <a:noFill/>
          <a:ln/>
        </p:spPr>
        <p:txBody>
          <a:bodyPr wrap="square" rtlCol="0" anchor="ctr"/>
          <a:lstStyle/>
          <a:p>
            <a:pPr marL="0" indent="0" algn="r">
              <a:buNone/>
            </a:pPr>
            <a:r>
              <a:rPr lang="en-US" sz="1200" dirty="0">
                <a:solidFill>
                  <a:srgbClr val="546E7A"/>
                </a:solidFill>
                <a:latin typeface="Calibri" pitchFamily="34" charset="0"/>
                <a:ea typeface="Calibri" pitchFamily="34" charset="-122"/>
                <a:cs typeface="Calibri" pitchFamily="34" charset="-120"/>
              </a:rPr>
              <a:t>42</a:t>
            </a:r>
            <a:endParaRPr lang="en-US" sz="1200" dirty="0"/>
          </a:p>
        </p:txBody>
      </p:sp>
      <p:sp>
        <p:nvSpPr>
          <p:cNvPr id="43" name="Text 41"/>
          <p:cNvSpPr/>
          <p:nvPr/>
        </p:nvSpPr>
        <p:spPr>
          <a:xfrm>
            <a:off x="274320" y="4343400"/>
            <a:ext cx="8595360" cy="594360"/>
          </a:xfrm>
          <a:prstGeom prst="rect">
            <a:avLst/>
          </a:prstGeom>
          <a:solidFill>
            <a:srgbClr val="E3F0FF"/>
          </a:solid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Early stopping halted training once validation loss stopped improving — prevents overfitting.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Training Loss Curve</a:t>
            </a:r>
            <a:endParaRPr lang="en-US" sz="2600" dirty="0"/>
          </a:p>
        </p:txBody>
      </p:sp>
      <p:pic>
        <p:nvPicPr>
          <p:cNvPr id="4" name="Image 0" descr="/home/claude/images/fig_2.png"/>
          <p:cNvPicPr>
            <a:picLocks noChangeAspect="1"/>
          </p:cNvPicPr>
          <p:nvPr/>
        </p:nvPicPr>
        <p:blipFill>
          <a:blip r:embed="rId3"/>
          <a:stretch>
            <a:fillRect/>
          </a:stretch>
        </p:blipFill>
        <p:spPr>
          <a:xfrm>
            <a:off x="548640" y="777240"/>
            <a:ext cx="8229600" cy="4114800"/>
          </a:xfrm>
          <a:prstGeom prst="rect">
            <a:avLst/>
          </a:prstGeom>
        </p:spPr>
      </p:pic>
      <p:sp>
        <p:nvSpPr>
          <p:cNvPr id="5" name="Text 2"/>
          <p:cNvSpPr/>
          <p:nvPr/>
        </p:nvSpPr>
        <p:spPr>
          <a:xfrm>
            <a:off x="274320" y="4759452"/>
            <a:ext cx="8595360" cy="384048"/>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Figure 3: The loss drops sharply early on as the model learns basic patterns, then gradually flattens. Early stopping stopped training at epoch 59.</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Evaluation Results</a:t>
            </a:r>
            <a:endParaRPr lang="en-US" sz="2600" dirty="0"/>
          </a:p>
        </p:txBody>
      </p:sp>
      <p:sp>
        <p:nvSpPr>
          <p:cNvPr id="4" name="Shape 2"/>
          <p:cNvSpPr/>
          <p:nvPr/>
        </p:nvSpPr>
        <p:spPr>
          <a:xfrm>
            <a:off x="274320" y="822960"/>
            <a:ext cx="1554480" cy="1371600"/>
          </a:xfrm>
          <a:prstGeom prst="rect">
            <a:avLst/>
          </a:prstGeom>
          <a:solidFill>
            <a:srgbClr val="1565C0"/>
          </a:solidFill>
          <a:ln/>
          <a:effectLst>
            <a:outerShdw blurRad="63500" dist="25400" dir="8100000" algn="bl" rotWithShape="0">
              <a:srgbClr val="000000">
                <a:alpha val="12000"/>
              </a:srgbClr>
            </a:outerShdw>
          </a:effectLst>
        </p:spPr>
      </p:sp>
      <p:sp>
        <p:nvSpPr>
          <p:cNvPr id="5" name="Text 3"/>
          <p:cNvSpPr/>
          <p:nvPr/>
        </p:nvSpPr>
        <p:spPr>
          <a:xfrm>
            <a:off x="274320" y="822960"/>
            <a:ext cx="155448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MSE</a:t>
            </a:r>
            <a:endParaRPr lang="en-US" sz="1300" dirty="0"/>
          </a:p>
        </p:txBody>
      </p:sp>
      <p:sp>
        <p:nvSpPr>
          <p:cNvPr id="6" name="Text 4"/>
          <p:cNvSpPr/>
          <p:nvPr/>
        </p:nvSpPr>
        <p:spPr>
          <a:xfrm>
            <a:off x="274320" y="1188720"/>
            <a:ext cx="155448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0.2111</a:t>
            </a:r>
            <a:endParaRPr lang="en-US" sz="2200" dirty="0"/>
          </a:p>
        </p:txBody>
      </p:sp>
      <p:sp>
        <p:nvSpPr>
          <p:cNvPr id="7" name="Text 5"/>
          <p:cNvSpPr/>
          <p:nvPr/>
        </p:nvSpPr>
        <p:spPr>
          <a:xfrm>
            <a:off x="274320" y="1783080"/>
            <a:ext cx="1554480" cy="36576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Avg squared error</a:t>
            </a:r>
            <a:endParaRPr lang="en-US" sz="1050" dirty="0"/>
          </a:p>
        </p:txBody>
      </p:sp>
      <p:sp>
        <p:nvSpPr>
          <p:cNvPr id="8" name="Shape 6"/>
          <p:cNvSpPr/>
          <p:nvPr/>
        </p:nvSpPr>
        <p:spPr>
          <a:xfrm>
            <a:off x="2011680" y="822960"/>
            <a:ext cx="1554480" cy="1371600"/>
          </a:xfrm>
          <a:prstGeom prst="rect">
            <a:avLst/>
          </a:prstGeom>
          <a:solidFill>
            <a:srgbClr val="0277BD"/>
          </a:solidFill>
          <a:ln/>
          <a:effectLst>
            <a:outerShdw blurRad="63500" dist="25400" dir="8100000" algn="bl" rotWithShape="0">
              <a:srgbClr val="000000">
                <a:alpha val="12000"/>
              </a:srgbClr>
            </a:outerShdw>
          </a:effectLst>
        </p:spPr>
      </p:sp>
      <p:sp>
        <p:nvSpPr>
          <p:cNvPr id="9" name="Text 7"/>
          <p:cNvSpPr/>
          <p:nvPr/>
        </p:nvSpPr>
        <p:spPr>
          <a:xfrm>
            <a:off x="2011680" y="822960"/>
            <a:ext cx="155448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RMSE</a:t>
            </a:r>
            <a:endParaRPr lang="en-US" sz="1300" dirty="0"/>
          </a:p>
        </p:txBody>
      </p:sp>
      <p:sp>
        <p:nvSpPr>
          <p:cNvPr id="10" name="Text 8"/>
          <p:cNvSpPr/>
          <p:nvPr/>
        </p:nvSpPr>
        <p:spPr>
          <a:xfrm>
            <a:off x="2011680" y="1188720"/>
            <a:ext cx="155448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0.4594</a:t>
            </a:r>
            <a:endParaRPr lang="en-US" sz="2200" dirty="0"/>
          </a:p>
        </p:txBody>
      </p:sp>
      <p:sp>
        <p:nvSpPr>
          <p:cNvPr id="11" name="Text 9"/>
          <p:cNvSpPr/>
          <p:nvPr/>
        </p:nvSpPr>
        <p:spPr>
          <a:xfrm>
            <a:off x="2011680" y="1783080"/>
            <a:ext cx="1554480" cy="36576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Root mean sq. error</a:t>
            </a:r>
            <a:endParaRPr lang="en-US" sz="1050" dirty="0"/>
          </a:p>
        </p:txBody>
      </p:sp>
      <p:sp>
        <p:nvSpPr>
          <p:cNvPr id="12" name="Shape 10"/>
          <p:cNvSpPr/>
          <p:nvPr/>
        </p:nvSpPr>
        <p:spPr>
          <a:xfrm>
            <a:off x="3749040" y="822960"/>
            <a:ext cx="1554480" cy="1371600"/>
          </a:xfrm>
          <a:prstGeom prst="rect">
            <a:avLst/>
          </a:prstGeom>
          <a:solidFill>
            <a:srgbClr val="01579B"/>
          </a:solidFill>
          <a:ln/>
          <a:effectLst>
            <a:outerShdw blurRad="63500" dist="25400" dir="8100000" algn="bl" rotWithShape="0">
              <a:srgbClr val="000000">
                <a:alpha val="12000"/>
              </a:srgbClr>
            </a:outerShdw>
          </a:effectLst>
        </p:spPr>
      </p:sp>
      <p:sp>
        <p:nvSpPr>
          <p:cNvPr id="13" name="Text 11"/>
          <p:cNvSpPr/>
          <p:nvPr/>
        </p:nvSpPr>
        <p:spPr>
          <a:xfrm>
            <a:off x="3749040" y="822960"/>
            <a:ext cx="155448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MAE</a:t>
            </a:r>
            <a:endParaRPr lang="en-US" sz="1300" dirty="0"/>
          </a:p>
        </p:txBody>
      </p:sp>
      <p:sp>
        <p:nvSpPr>
          <p:cNvPr id="14" name="Text 12"/>
          <p:cNvSpPr/>
          <p:nvPr/>
        </p:nvSpPr>
        <p:spPr>
          <a:xfrm>
            <a:off x="3749040" y="1188720"/>
            <a:ext cx="155448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0.4061</a:t>
            </a:r>
            <a:endParaRPr lang="en-US" sz="2200" dirty="0"/>
          </a:p>
        </p:txBody>
      </p:sp>
      <p:sp>
        <p:nvSpPr>
          <p:cNvPr id="15" name="Text 13"/>
          <p:cNvSpPr/>
          <p:nvPr/>
        </p:nvSpPr>
        <p:spPr>
          <a:xfrm>
            <a:off x="3749040" y="1783080"/>
            <a:ext cx="1554480" cy="36576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Mean absolute error</a:t>
            </a:r>
            <a:endParaRPr lang="en-US" sz="1050" dirty="0"/>
          </a:p>
        </p:txBody>
      </p:sp>
      <p:sp>
        <p:nvSpPr>
          <p:cNvPr id="16" name="Shape 14"/>
          <p:cNvSpPr/>
          <p:nvPr/>
        </p:nvSpPr>
        <p:spPr>
          <a:xfrm>
            <a:off x="5486400" y="822960"/>
            <a:ext cx="1554480" cy="1371600"/>
          </a:xfrm>
          <a:prstGeom prst="rect">
            <a:avLst/>
          </a:prstGeom>
          <a:solidFill>
            <a:srgbClr val="E53935"/>
          </a:solidFill>
          <a:ln/>
          <a:effectLst>
            <a:outerShdw blurRad="63500" dist="25400" dir="8100000" algn="bl" rotWithShape="0">
              <a:srgbClr val="000000">
                <a:alpha val="12000"/>
              </a:srgbClr>
            </a:outerShdw>
          </a:effectLst>
        </p:spPr>
      </p:sp>
      <p:sp>
        <p:nvSpPr>
          <p:cNvPr id="17" name="Text 15"/>
          <p:cNvSpPr/>
          <p:nvPr/>
        </p:nvSpPr>
        <p:spPr>
          <a:xfrm>
            <a:off x="5486400" y="822960"/>
            <a:ext cx="155448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R² Score</a:t>
            </a:r>
            <a:endParaRPr lang="en-US" sz="1300" dirty="0"/>
          </a:p>
        </p:txBody>
      </p:sp>
      <p:sp>
        <p:nvSpPr>
          <p:cNvPr id="18" name="Text 16"/>
          <p:cNvSpPr/>
          <p:nvPr/>
        </p:nvSpPr>
        <p:spPr>
          <a:xfrm>
            <a:off x="5486400" y="1188720"/>
            <a:ext cx="155448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0.0965</a:t>
            </a:r>
            <a:endParaRPr lang="en-US" sz="2200" dirty="0"/>
          </a:p>
        </p:txBody>
      </p:sp>
      <p:sp>
        <p:nvSpPr>
          <p:cNvPr id="19" name="Text 17"/>
          <p:cNvSpPr/>
          <p:nvPr/>
        </p:nvSpPr>
        <p:spPr>
          <a:xfrm>
            <a:off x="5486400" y="1783080"/>
            <a:ext cx="1554480" cy="36576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Variance explained</a:t>
            </a:r>
            <a:endParaRPr lang="en-US" sz="1050" dirty="0"/>
          </a:p>
        </p:txBody>
      </p:sp>
      <p:sp>
        <p:nvSpPr>
          <p:cNvPr id="20" name="Shape 18"/>
          <p:cNvSpPr/>
          <p:nvPr/>
        </p:nvSpPr>
        <p:spPr>
          <a:xfrm>
            <a:off x="7223760" y="822960"/>
            <a:ext cx="1554480" cy="1371600"/>
          </a:xfrm>
          <a:prstGeom prst="rect">
            <a:avLst/>
          </a:prstGeom>
          <a:solidFill>
            <a:srgbClr val="2E7D32"/>
          </a:solidFill>
          <a:ln/>
          <a:effectLst>
            <a:outerShdw blurRad="63500" dist="25400" dir="8100000" algn="bl" rotWithShape="0">
              <a:srgbClr val="000000">
                <a:alpha val="12000"/>
              </a:srgbClr>
            </a:outerShdw>
          </a:effectLst>
        </p:spPr>
      </p:sp>
      <p:sp>
        <p:nvSpPr>
          <p:cNvPr id="21" name="Text 19"/>
          <p:cNvSpPr/>
          <p:nvPr/>
        </p:nvSpPr>
        <p:spPr>
          <a:xfrm>
            <a:off x="7223760" y="822960"/>
            <a:ext cx="155448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22" name="Text 20"/>
          <p:cNvSpPr/>
          <p:nvPr/>
        </p:nvSpPr>
        <p:spPr>
          <a:xfrm>
            <a:off x="7223760" y="1188720"/>
            <a:ext cx="155448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67.68%</a:t>
            </a:r>
            <a:endParaRPr lang="en-US" sz="2200" dirty="0"/>
          </a:p>
        </p:txBody>
      </p:sp>
      <p:sp>
        <p:nvSpPr>
          <p:cNvPr id="23" name="Text 21"/>
          <p:cNvSpPr/>
          <p:nvPr/>
        </p:nvSpPr>
        <p:spPr>
          <a:xfrm>
            <a:off x="7223760" y="1783080"/>
            <a:ext cx="1554480" cy="36576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At threshold 0.5</a:t>
            </a:r>
            <a:endParaRPr lang="en-US" sz="1050" dirty="0"/>
          </a:p>
        </p:txBody>
      </p:sp>
      <p:sp>
        <p:nvSpPr>
          <p:cNvPr id="24" name="Shape 22"/>
          <p:cNvSpPr/>
          <p:nvPr/>
        </p:nvSpPr>
        <p:spPr>
          <a:xfrm>
            <a:off x="274320" y="2377440"/>
            <a:ext cx="8595360" cy="2514600"/>
          </a:xfrm>
          <a:prstGeom prst="rect">
            <a:avLst/>
          </a:prstGeom>
          <a:solidFill>
            <a:srgbClr val="FFFFFF"/>
          </a:solidFill>
          <a:ln/>
          <a:effectLst>
            <a:outerShdw blurRad="63500" dist="25400" dir="8100000" algn="bl" rotWithShape="0">
              <a:srgbClr val="000000">
                <a:alpha val="12000"/>
              </a:srgbClr>
            </a:outerShdw>
          </a:effectLst>
        </p:spPr>
      </p:sp>
      <p:sp>
        <p:nvSpPr>
          <p:cNvPr id="25" name="Text 23"/>
          <p:cNvSpPr/>
          <p:nvPr/>
        </p:nvSpPr>
        <p:spPr>
          <a:xfrm>
            <a:off x="457200" y="2468880"/>
            <a:ext cx="8229600" cy="320040"/>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What the Results Mean</a:t>
            </a:r>
            <a:endParaRPr lang="en-US" sz="1400" dirty="0"/>
          </a:p>
        </p:txBody>
      </p:sp>
      <p:sp>
        <p:nvSpPr>
          <p:cNvPr id="26" name="Shape 24"/>
          <p:cNvSpPr/>
          <p:nvPr/>
        </p:nvSpPr>
        <p:spPr>
          <a:xfrm>
            <a:off x="365760" y="2926080"/>
            <a:ext cx="182880" cy="182880"/>
          </a:xfrm>
          <a:prstGeom prst="ellipse">
            <a:avLst/>
          </a:prstGeom>
          <a:solidFill>
            <a:srgbClr val="1565C0"/>
          </a:solidFill>
          <a:ln/>
        </p:spPr>
      </p:sp>
      <p:sp>
        <p:nvSpPr>
          <p:cNvPr id="27" name="Text 25"/>
          <p:cNvSpPr/>
          <p:nvPr/>
        </p:nvSpPr>
        <p:spPr>
          <a:xfrm>
            <a:off x="685800" y="2880360"/>
            <a:ext cx="8046720" cy="475488"/>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Accuracy ~68%: </a:t>
            </a:r>
            <a:r>
              <a:rPr lang="en-US" sz="1200" dirty="0">
                <a:solidFill>
                  <a:srgbClr val="546E7A"/>
                </a:solidFill>
                <a:latin typeface="Calibri" pitchFamily="34" charset="0"/>
                <a:ea typeface="Calibri" pitchFamily="34" charset="-122"/>
                <a:cs typeface="Calibri" pitchFamily="34" charset="-120"/>
              </a:rPr>
              <a:t>The model correctly classifies about 2 out of 3 water samples. Reasonable for a hard dataset with no strong feature correlations.</a:t>
            </a:r>
            <a:endParaRPr lang="en-US" sz="1200" dirty="0"/>
          </a:p>
        </p:txBody>
      </p:sp>
      <p:sp>
        <p:nvSpPr>
          <p:cNvPr id="28" name="Shape 26"/>
          <p:cNvSpPr/>
          <p:nvPr/>
        </p:nvSpPr>
        <p:spPr>
          <a:xfrm>
            <a:off x="365760" y="3538728"/>
            <a:ext cx="182880" cy="182880"/>
          </a:xfrm>
          <a:prstGeom prst="ellipse">
            <a:avLst/>
          </a:prstGeom>
          <a:solidFill>
            <a:srgbClr val="1565C0"/>
          </a:solidFill>
          <a:ln/>
        </p:spPr>
      </p:sp>
      <p:sp>
        <p:nvSpPr>
          <p:cNvPr id="29" name="Text 27"/>
          <p:cNvSpPr/>
          <p:nvPr/>
        </p:nvSpPr>
        <p:spPr>
          <a:xfrm>
            <a:off x="685800" y="3493008"/>
            <a:ext cx="8046720" cy="475488"/>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Low R² (0.097): </a:t>
            </a:r>
            <a:r>
              <a:rPr lang="en-US" sz="1200" dirty="0">
                <a:solidFill>
                  <a:srgbClr val="546E7A"/>
                </a:solidFill>
                <a:latin typeface="Calibri" pitchFamily="34" charset="0"/>
                <a:ea typeface="Calibri" pitchFamily="34" charset="-122"/>
                <a:cs typeface="Calibri" pitchFamily="34" charset="-120"/>
              </a:rPr>
              <a:t>The model explains only ~10% of the variance in potability. There is room for improvement — more data or better features could help.</a:t>
            </a:r>
            <a:endParaRPr lang="en-US" sz="1200" dirty="0"/>
          </a:p>
        </p:txBody>
      </p:sp>
      <p:sp>
        <p:nvSpPr>
          <p:cNvPr id="30" name="Shape 28"/>
          <p:cNvSpPr/>
          <p:nvPr/>
        </p:nvSpPr>
        <p:spPr>
          <a:xfrm>
            <a:off x="365760" y="4151376"/>
            <a:ext cx="182880" cy="182880"/>
          </a:xfrm>
          <a:prstGeom prst="ellipse">
            <a:avLst/>
          </a:prstGeom>
          <a:solidFill>
            <a:srgbClr val="1565C0"/>
          </a:solidFill>
          <a:ln/>
        </p:spPr>
      </p:sp>
      <p:sp>
        <p:nvSpPr>
          <p:cNvPr id="31" name="Text 29"/>
          <p:cNvSpPr/>
          <p:nvPr/>
        </p:nvSpPr>
        <p:spPr>
          <a:xfrm>
            <a:off x="685800" y="4105656"/>
            <a:ext cx="8046720" cy="475488"/>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Why accuracy alone isn't enough: </a:t>
            </a:r>
            <a:r>
              <a:rPr lang="en-US" sz="1200" dirty="0">
                <a:solidFill>
                  <a:srgbClr val="546E7A"/>
                </a:solidFill>
                <a:latin typeface="Calibri" pitchFamily="34" charset="0"/>
                <a:ea typeface="Calibri" pitchFamily="34" charset="-122"/>
                <a:cs typeface="Calibri" pitchFamily="34" charset="-120"/>
              </a:rPr>
              <a:t>In a safety-critical system, even 1 wrong 'safe' prediction could be dangerous. This is why we apply output range analysis.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Output Range Analysis — IBP Method</a:t>
            </a:r>
            <a:endParaRPr lang="en-US" sz="2600" dirty="0"/>
          </a:p>
        </p:txBody>
      </p:sp>
      <p:sp>
        <p:nvSpPr>
          <p:cNvPr id="4" name="Shape 2"/>
          <p:cNvSpPr/>
          <p:nvPr/>
        </p:nvSpPr>
        <p:spPr>
          <a:xfrm>
            <a:off x="274320" y="777240"/>
            <a:ext cx="8595360" cy="1097280"/>
          </a:xfrm>
          <a:prstGeom prst="rect">
            <a:avLst/>
          </a:prstGeom>
          <a:solidFill>
            <a:srgbClr val="E3F0FF"/>
          </a:solidFill>
          <a:ln/>
        </p:spPr>
      </p:sp>
      <p:sp>
        <p:nvSpPr>
          <p:cNvPr id="5" name="Text 3"/>
          <p:cNvSpPr/>
          <p:nvPr/>
        </p:nvSpPr>
        <p:spPr>
          <a:xfrm>
            <a:off x="457200" y="822960"/>
            <a:ext cx="822960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Danger Zone Definition</a:t>
            </a:r>
            <a:endParaRPr lang="en-US" sz="1400" dirty="0"/>
          </a:p>
        </p:txBody>
      </p:sp>
      <p:sp>
        <p:nvSpPr>
          <p:cNvPr id="6" name="Text 4"/>
          <p:cNvSpPr/>
          <p:nvPr/>
        </p:nvSpPr>
        <p:spPr>
          <a:xfrm>
            <a:off x="457200" y="1124712"/>
            <a:ext cx="8229600" cy="59436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We define the danger zone as a box centered at the mean of all non-potable (unsafe) water samples in the scaled feature space. Epsilon (ε = 0.3) controls the box size: x_low = center − ε,  x_high = center + ε</a:t>
            </a:r>
            <a:endParaRPr lang="en-US" sz="1200" dirty="0"/>
          </a:p>
        </p:txBody>
      </p:sp>
      <p:sp>
        <p:nvSpPr>
          <p:cNvPr id="7" name="Shape 5"/>
          <p:cNvSpPr/>
          <p:nvPr/>
        </p:nvSpPr>
        <p:spPr>
          <a:xfrm>
            <a:off x="274320" y="1965960"/>
            <a:ext cx="8595360" cy="502920"/>
          </a:xfrm>
          <a:prstGeom prst="rect">
            <a:avLst/>
          </a:prstGeom>
          <a:solidFill>
            <a:srgbClr val="E53935"/>
          </a:solidFill>
          <a:ln/>
        </p:spPr>
      </p:sp>
      <p:sp>
        <p:nvSpPr>
          <p:cNvPr id="8" name="Text 6"/>
          <p:cNvSpPr/>
          <p:nvPr/>
        </p:nvSpPr>
        <p:spPr>
          <a:xfrm>
            <a:off x="274320" y="1965960"/>
            <a:ext cx="8595360" cy="5029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Key Safety Question: Can the model EVER output ≥ 0.5 (predict 'safe') for ANY input in the danger zone?</a:t>
            </a:r>
            <a:endParaRPr lang="en-US" sz="1350" dirty="0"/>
          </a:p>
        </p:txBody>
      </p:sp>
      <p:sp>
        <p:nvSpPr>
          <p:cNvPr id="9" name="Text 7"/>
          <p:cNvSpPr/>
          <p:nvPr/>
        </p:nvSpPr>
        <p:spPr>
          <a:xfrm>
            <a:off x="274320" y="2651760"/>
            <a:ext cx="8595360" cy="320040"/>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Step 1 — Interval Bound Propagation (IBP)</a:t>
            </a:r>
            <a:endParaRPr lang="en-US" sz="1400" dirty="0"/>
          </a:p>
        </p:txBody>
      </p:sp>
      <p:sp>
        <p:nvSpPr>
          <p:cNvPr id="10" name="Shape 8"/>
          <p:cNvSpPr/>
          <p:nvPr/>
        </p:nvSpPr>
        <p:spPr>
          <a:xfrm>
            <a:off x="274320" y="3063240"/>
            <a:ext cx="2651760" cy="960120"/>
          </a:xfrm>
          <a:prstGeom prst="rect">
            <a:avLst/>
          </a:prstGeom>
          <a:solidFill>
            <a:srgbClr val="1565C0"/>
          </a:solidFill>
          <a:ln/>
          <a:effectLst>
            <a:outerShdw blurRad="63500" dist="25400" dir="8100000" algn="bl" rotWithShape="0">
              <a:srgbClr val="000000">
                <a:alpha val="12000"/>
              </a:srgbClr>
            </a:outerShdw>
          </a:effectLst>
        </p:spPr>
      </p:sp>
      <p:sp>
        <p:nvSpPr>
          <p:cNvPr id="11" name="Text 9"/>
          <p:cNvSpPr/>
          <p:nvPr/>
        </p:nvSpPr>
        <p:spPr>
          <a:xfrm>
            <a:off x="274320" y="3063240"/>
            <a:ext cx="26517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Lower Bound (l)</a:t>
            </a:r>
            <a:endParaRPr lang="en-US" sz="1200" dirty="0"/>
          </a:p>
        </p:txBody>
      </p:sp>
      <p:sp>
        <p:nvSpPr>
          <p:cNvPr id="12" name="Text 10"/>
          <p:cNvSpPr/>
          <p:nvPr/>
        </p:nvSpPr>
        <p:spPr>
          <a:xfrm>
            <a:off x="274320" y="3447288"/>
            <a:ext cx="26517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−5.3502</a:t>
            </a:r>
            <a:endParaRPr lang="en-US" sz="2200" dirty="0"/>
          </a:p>
        </p:txBody>
      </p:sp>
      <p:sp>
        <p:nvSpPr>
          <p:cNvPr id="13" name="Shape 11"/>
          <p:cNvSpPr/>
          <p:nvPr/>
        </p:nvSpPr>
        <p:spPr>
          <a:xfrm>
            <a:off x="3200400" y="3063240"/>
            <a:ext cx="2651760" cy="960120"/>
          </a:xfrm>
          <a:prstGeom prst="rect">
            <a:avLst/>
          </a:prstGeom>
          <a:solidFill>
            <a:srgbClr val="E53935"/>
          </a:solidFill>
          <a:ln/>
          <a:effectLst>
            <a:outerShdw blurRad="63500" dist="25400" dir="8100000" algn="bl" rotWithShape="0">
              <a:srgbClr val="000000">
                <a:alpha val="12000"/>
              </a:srgbClr>
            </a:outerShdw>
          </a:effectLst>
        </p:spPr>
      </p:sp>
      <p:sp>
        <p:nvSpPr>
          <p:cNvPr id="14" name="Text 12"/>
          <p:cNvSpPr/>
          <p:nvPr/>
        </p:nvSpPr>
        <p:spPr>
          <a:xfrm>
            <a:off x="3200400" y="3063240"/>
            <a:ext cx="26517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Upper Bound (u)</a:t>
            </a:r>
            <a:endParaRPr lang="en-US" sz="1200" dirty="0"/>
          </a:p>
        </p:txBody>
      </p:sp>
      <p:sp>
        <p:nvSpPr>
          <p:cNvPr id="15" name="Text 13"/>
          <p:cNvSpPr/>
          <p:nvPr/>
        </p:nvSpPr>
        <p:spPr>
          <a:xfrm>
            <a:off x="3200400" y="3447288"/>
            <a:ext cx="26517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+7.1364</a:t>
            </a:r>
            <a:endParaRPr lang="en-US" sz="2200" dirty="0"/>
          </a:p>
        </p:txBody>
      </p:sp>
      <p:sp>
        <p:nvSpPr>
          <p:cNvPr id="16" name="Shape 14"/>
          <p:cNvSpPr/>
          <p:nvPr/>
        </p:nvSpPr>
        <p:spPr>
          <a:xfrm>
            <a:off x="6126480" y="3063240"/>
            <a:ext cx="2651760" cy="960120"/>
          </a:xfrm>
          <a:prstGeom prst="rect">
            <a:avLst/>
          </a:prstGeom>
          <a:solidFill>
            <a:srgbClr val="546E7A"/>
          </a:solidFill>
          <a:ln/>
          <a:effectLst>
            <a:outerShdw blurRad="63500" dist="25400" dir="8100000" algn="bl" rotWithShape="0">
              <a:srgbClr val="000000">
                <a:alpha val="12000"/>
              </a:srgbClr>
            </a:outerShdw>
          </a:effectLst>
        </p:spPr>
      </p:sp>
      <p:sp>
        <p:nvSpPr>
          <p:cNvPr id="17" name="Text 15"/>
          <p:cNvSpPr/>
          <p:nvPr/>
        </p:nvSpPr>
        <p:spPr>
          <a:xfrm>
            <a:off x="6126480" y="3063240"/>
            <a:ext cx="26517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Safety Threshold</a:t>
            </a:r>
            <a:endParaRPr lang="en-US" sz="1200" dirty="0"/>
          </a:p>
        </p:txBody>
      </p:sp>
      <p:sp>
        <p:nvSpPr>
          <p:cNvPr id="18" name="Text 16"/>
          <p:cNvSpPr/>
          <p:nvPr/>
        </p:nvSpPr>
        <p:spPr>
          <a:xfrm>
            <a:off x="6126480" y="3447288"/>
            <a:ext cx="26517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0.5</a:t>
            </a:r>
            <a:endParaRPr lang="en-US" sz="2200" dirty="0"/>
          </a:p>
        </p:txBody>
      </p:sp>
      <p:sp>
        <p:nvSpPr>
          <p:cNvPr id="19" name="Shape 17"/>
          <p:cNvSpPr/>
          <p:nvPr/>
        </p:nvSpPr>
        <p:spPr>
          <a:xfrm>
            <a:off x="274320" y="4160520"/>
            <a:ext cx="8595360" cy="731520"/>
          </a:xfrm>
          <a:prstGeom prst="rect">
            <a:avLst/>
          </a:prstGeom>
          <a:solidFill>
            <a:srgbClr val="E3F0FF"/>
          </a:solidFill>
          <a:ln/>
        </p:spPr>
      </p:sp>
      <p:sp>
        <p:nvSpPr>
          <p:cNvPr id="20" name="Text 18"/>
          <p:cNvSpPr/>
          <p:nvPr/>
        </p:nvSpPr>
        <p:spPr>
          <a:xfrm>
            <a:off x="457200" y="4187952"/>
            <a:ext cx="8229600" cy="658368"/>
          </a:xfrm>
          <a:prstGeom prst="rect">
            <a:avLst/>
          </a:prstGeom>
          <a:noFill/>
          <a:ln/>
        </p:spPr>
        <p:txBody>
          <a:bodyPr wrap="square" rtlCol="0" anchor="ctr"/>
          <a:lstStyle/>
          <a:p>
            <a:pPr marL="0" indent="0">
              <a:buNone/>
            </a:pPr>
            <a:r>
              <a:rPr lang="en-US" sz="1250" b="1" dirty="0">
                <a:solidFill>
                  <a:srgbClr val="E53935"/>
                </a:solidFill>
                <a:latin typeface="Calibri" pitchFamily="34" charset="0"/>
                <a:ea typeface="Calibri" pitchFamily="34" charset="-122"/>
                <a:cs typeface="Calibri" pitchFamily="34" charset="-120"/>
              </a:rPr>
              <a:t>IBP Result: </a:t>
            </a:r>
            <a:r>
              <a:rPr lang="en-US" sz="1250" dirty="0">
                <a:solidFill>
                  <a:srgbClr val="546E7A"/>
                </a:solidFill>
                <a:latin typeface="Calibri" pitchFamily="34" charset="0"/>
                <a:ea typeface="Calibri" pitchFamily="34" charset="-122"/>
                <a:cs typeface="Calibri" pitchFamily="34" charset="-120"/>
              </a:rPr>
              <a:t>The upper bound (7.1364) exceeds 0.5, so IBP marks this as RISK. However, IBP is overly conservative — it overestimates the true range. We need a tighter method: Local Search.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Output Range Analysis — Local Search (Gradient Ascent)</a:t>
            </a:r>
            <a:endParaRPr lang="en-US" sz="2400" dirty="0"/>
          </a:p>
        </p:txBody>
      </p:sp>
      <p:pic>
        <p:nvPicPr>
          <p:cNvPr id="4" name="Image 0" descr="/home/claude/images/fig_3.png"/>
          <p:cNvPicPr>
            <a:picLocks noChangeAspect="1"/>
          </p:cNvPicPr>
          <p:nvPr/>
        </p:nvPicPr>
        <p:blipFill>
          <a:blip r:embed="rId3"/>
          <a:stretch>
            <a:fillRect/>
          </a:stretch>
        </p:blipFill>
        <p:spPr>
          <a:xfrm>
            <a:off x="274320" y="777240"/>
            <a:ext cx="8595360" cy="3438144"/>
          </a:xfrm>
          <a:prstGeom prst="rect">
            <a:avLst/>
          </a:prstGeom>
        </p:spPr>
      </p:pic>
      <p:sp>
        <p:nvSpPr>
          <p:cNvPr id="5" name="Text 2"/>
          <p:cNvSpPr/>
          <p:nvPr/>
        </p:nvSpPr>
        <p:spPr>
          <a:xfrm>
            <a:off x="274320" y="4251960"/>
            <a:ext cx="8595360" cy="365760"/>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Figure 4: The green line shows the tighter bound found by gradient ascent (0.4562), far below the 0.5 safety threshold — the model is SAFE in the danger zone.</a:t>
            </a:r>
            <a:endParaRPr lang="en-US" sz="1050" dirty="0"/>
          </a:p>
        </p:txBody>
      </p:sp>
      <p:sp>
        <p:nvSpPr>
          <p:cNvPr id="6" name="Shape 3"/>
          <p:cNvSpPr/>
          <p:nvPr/>
        </p:nvSpPr>
        <p:spPr>
          <a:xfrm>
            <a:off x="274320" y="4663440"/>
            <a:ext cx="8595360" cy="365760"/>
          </a:xfrm>
          <a:prstGeom prst="rect">
            <a:avLst/>
          </a:prstGeom>
          <a:solidFill>
            <a:srgbClr val="2E7D32"/>
          </a:solidFill>
          <a:ln/>
        </p:spPr>
      </p:sp>
      <p:sp>
        <p:nvSpPr>
          <p:cNvPr id="7" name="Text 4"/>
          <p:cNvSpPr/>
          <p:nvPr/>
        </p:nvSpPr>
        <p:spPr>
          <a:xfrm>
            <a:off x="274320" y="4663440"/>
            <a:ext cx="85953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LOCAL SEARCH RESULT: Best output = 0.4562 &lt; 0.5 threshold → MODEL IS SAFE in the danger zone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Output Range vs Epsilon — Main Result</a:t>
            </a:r>
            <a:endParaRPr lang="en-US" sz="2600" dirty="0"/>
          </a:p>
        </p:txBody>
      </p:sp>
      <p:pic>
        <p:nvPicPr>
          <p:cNvPr id="4" name="Image 0" descr="/home/claude/images/fig_4.png"/>
          <p:cNvPicPr>
            <a:picLocks noChangeAspect="1"/>
          </p:cNvPicPr>
          <p:nvPr/>
        </p:nvPicPr>
        <p:blipFill>
          <a:blip r:embed="rId3"/>
          <a:stretch>
            <a:fillRect/>
          </a:stretch>
        </p:blipFill>
        <p:spPr>
          <a:xfrm>
            <a:off x="274320" y="777240"/>
            <a:ext cx="5486400" cy="3044952"/>
          </a:xfrm>
          <a:prstGeom prst="rect">
            <a:avLst/>
          </a:prstGeom>
        </p:spPr>
      </p:pic>
      <p:sp>
        <p:nvSpPr>
          <p:cNvPr id="5" name="Shape 2"/>
          <p:cNvSpPr/>
          <p:nvPr/>
        </p:nvSpPr>
        <p:spPr>
          <a:xfrm>
            <a:off x="5943600" y="777240"/>
            <a:ext cx="3017520" cy="3044952"/>
          </a:xfrm>
          <a:prstGeom prst="rect">
            <a:avLst/>
          </a:prstGeom>
          <a:solidFill>
            <a:srgbClr val="FFFFFF"/>
          </a:solidFill>
          <a:ln/>
          <a:effectLst>
            <a:outerShdw blurRad="63500" dist="25400" dir="8100000" algn="bl" rotWithShape="0">
              <a:srgbClr val="000000">
                <a:alpha val="12000"/>
              </a:srgbClr>
            </a:outerShdw>
          </a:effectLst>
        </p:spPr>
      </p:sp>
      <p:sp>
        <p:nvSpPr>
          <p:cNvPr id="6" name="Shape 3"/>
          <p:cNvSpPr/>
          <p:nvPr/>
        </p:nvSpPr>
        <p:spPr>
          <a:xfrm>
            <a:off x="5943600" y="777240"/>
            <a:ext cx="749808" cy="365760"/>
          </a:xfrm>
          <a:prstGeom prst="rect">
            <a:avLst/>
          </a:prstGeom>
          <a:solidFill>
            <a:srgbClr val="0A2342"/>
          </a:solidFill>
          <a:ln/>
        </p:spPr>
      </p:sp>
      <p:sp>
        <p:nvSpPr>
          <p:cNvPr id="7" name="Text 4"/>
          <p:cNvSpPr/>
          <p:nvPr/>
        </p:nvSpPr>
        <p:spPr>
          <a:xfrm>
            <a:off x="5943600" y="777240"/>
            <a:ext cx="74980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ε</a:t>
            </a:r>
            <a:endParaRPr lang="en-US" sz="1100" dirty="0"/>
          </a:p>
        </p:txBody>
      </p:sp>
      <p:sp>
        <p:nvSpPr>
          <p:cNvPr id="8" name="Shape 5"/>
          <p:cNvSpPr/>
          <p:nvPr/>
        </p:nvSpPr>
        <p:spPr>
          <a:xfrm>
            <a:off x="6693408" y="777240"/>
            <a:ext cx="749808" cy="365760"/>
          </a:xfrm>
          <a:prstGeom prst="rect">
            <a:avLst/>
          </a:prstGeom>
          <a:solidFill>
            <a:srgbClr val="0A2342"/>
          </a:solidFill>
          <a:ln/>
        </p:spPr>
      </p:sp>
      <p:sp>
        <p:nvSpPr>
          <p:cNvPr id="9" name="Text 6"/>
          <p:cNvSpPr/>
          <p:nvPr/>
        </p:nvSpPr>
        <p:spPr>
          <a:xfrm>
            <a:off x="6693408" y="777240"/>
            <a:ext cx="74980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IBP</a:t>
            </a:r>
            <a:endParaRPr lang="en-US" sz="1100" dirty="0"/>
          </a:p>
        </p:txBody>
      </p:sp>
      <p:sp>
        <p:nvSpPr>
          <p:cNvPr id="10" name="Shape 7"/>
          <p:cNvSpPr/>
          <p:nvPr/>
        </p:nvSpPr>
        <p:spPr>
          <a:xfrm>
            <a:off x="7443216" y="777240"/>
            <a:ext cx="749808" cy="365760"/>
          </a:xfrm>
          <a:prstGeom prst="rect">
            <a:avLst/>
          </a:prstGeom>
          <a:solidFill>
            <a:srgbClr val="0A2342"/>
          </a:solidFill>
          <a:ln/>
        </p:spPr>
      </p:sp>
      <p:sp>
        <p:nvSpPr>
          <p:cNvPr id="11" name="Text 8"/>
          <p:cNvSpPr/>
          <p:nvPr/>
        </p:nvSpPr>
        <p:spPr>
          <a:xfrm>
            <a:off x="7443216" y="777240"/>
            <a:ext cx="74980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a:t>
            </a:r>
            <a:endParaRPr lang="en-US" sz="1100" dirty="0"/>
          </a:p>
        </p:txBody>
      </p:sp>
      <p:sp>
        <p:nvSpPr>
          <p:cNvPr id="12" name="Shape 9"/>
          <p:cNvSpPr/>
          <p:nvPr/>
        </p:nvSpPr>
        <p:spPr>
          <a:xfrm>
            <a:off x="8193024" y="777240"/>
            <a:ext cx="749808" cy="365760"/>
          </a:xfrm>
          <a:prstGeom prst="rect">
            <a:avLst/>
          </a:prstGeom>
          <a:solidFill>
            <a:srgbClr val="0A2342"/>
          </a:solidFill>
          <a:ln/>
        </p:spPr>
      </p:sp>
      <p:sp>
        <p:nvSpPr>
          <p:cNvPr id="13" name="Text 10"/>
          <p:cNvSpPr/>
          <p:nvPr/>
        </p:nvSpPr>
        <p:spPr>
          <a:xfrm>
            <a:off x="8193024" y="777240"/>
            <a:ext cx="74980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p>
        </p:txBody>
      </p:sp>
      <p:sp>
        <p:nvSpPr>
          <p:cNvPr id="14" name="Shape 11"/>
          <p:cNvSpPr/>
          <p:nvPr/>
        </p:nvSpPr>
        <p:spPr>
          <a:xfrm>
            <a:off x="5943600" y="1143000"/>
            <a:ext cx="749808" cy="393192"/>
          </a:xfrm>
          <a:prstGeom prst="rect">
            <a:avLst/>
          </a:prstGeom>
          <a:solidFill>
            <a:srgbClr val="E3F0FF"/>
          </a:solidFill>
          <a:ln/>
        </p:spPr>
      </p:sp>
      <p:sp>
        <p:nvSpPr>
          <p:cNvPr id="15" name="Text 12"/>
          <p:cNvSpPr/>
          <p:nvPr/>
        </p:nvSpPr>
        <p:spPr>
          <a:xfrm>
            <a:off x="5943600" y="114300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0.05</a:t>
            </a:r>
            <a:endParaRPr lang="en-US" sz="1050" dirty="0"/>
          </a:p>
        </p:txBody>
      </p:sp>
      <p:sp>
        <p:nvSpPr>
          <p:cNvPr id="16" name="Shape 13"/>
          <p:cNvSpPr/>
          <p:nvPr/>
        </p:nvSpPr>
        <p:spPr>
          <a:xfrm>
            <a:off x="6693408" y="1143000"/>
            <a:ext cx="749808" cy="393192"/>
          </a:xfrm>
          <a:prstGeom prst="rect">
            <a:avLst/>
          </a:prstGeom>
          <a:solidFill>
            <a:srgbClr val="E3F0FF"/>
          </a:solidFill>
          <a:ln/>
        </p:spPr>
      </p:sp>
      <p:sp>
        <p:nvSpPr>
          <p:cNvPr id="17" name="Text 14"/>
          <p:cNvSpPr/>
          <p:nvPr/>
        </p:nvSpPr>
        <p:spPr>
          <a:xfrm>
            <a:off x="6693408" y="114300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1.08</a:t>
            </a:r>
            <a:endParaRPr lang="en-US" sz="1050" dirty="0"/>
          </a:p>
        </p:txBody>
      </p:sp>
      <p:sp>
        <p:nvSpPr>
          <p:cNvPr id="18" name="Shape 15"/>
          <p:cNvSpPr/>
          <p:nvPr/>
        </p:nvSpPr>
        <p:spPr>
          <a:xfrm>
            <a:off x="7443216" y="1143000"/>
            <a:ext cx="749808" cy="393192"/>
          </a:xfrm>
          <a:prstGeom prst="rect">
            <a:avLst/>
          </a:prstGeom>
          <a:solidFill>
            <a:srgbClr val="E3F0FF"/>
          </a:solidFill>
          <a:ln/>
        </p:spPr>
      </p:sp>
      <p:sp>
        <p:nvSpPr>
          <p:cNvPr id="19" name="Text 16"/>
          <p:cNvSpPr/>
          <p:nvPr/>
        </p:nvSpPr>
        <p:spPr>
          <a:xfrm>
            <a:off x="7443216" y="114300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0.40</a:t>
            </a:r>
            <a:endParaRPr lang="en-US" sz="1050" dirty="0"/>
          </a:p>
        </p:txBody>
      </p:sp>
      <p:sp>
        <p:nvSpPr>
          <p:cNvPr id="20" name="Shape 17"/>
          <p:cNvSpPr/>
          <p:nvPr/>
        </p:nvSpPr>
        <p:spPr>
          <a:xfrm>
            <a:off x="8193024" y="1143000"/>
            <a:ext cx="749808" cy="393192"/>
          </a:xfrm>
          <a:prstGeom prst="rect">
            <a:avLst/>
          </a:prstGeom>
          <a:solidFill>
            <a:srgbClr val="E53935"/>
          </a:solidFill>
          <a:ln/>
        </p:spPr>
      </p:sp>
      <p:sp>
        <p:nvSpPr>
          <p:cNvPr id="21" name="Text 18"/>
          <p:cNvSpPr/>
          <p:nvPr/>
        </p:nvSpPr>
        <p:spPr>
          <a:xfrm>
            <a:off x="8193024" y="1143000"/>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22" name="Shape 19"/>
          <p:cNvSpPr/>
          <p:nvPr/>
        </p:nvSpPr>
        <p:spPr>
          <a:xfrm>
            <a:off x="5943600" y="1581912"/>
            <a:ext cx="749808" cy="393192"/>
          </a:xfrm>
          <a:prstGeom prst="rect">
            <a:avLst/>
          </a:prstGeom>
          <a:solidFill>
            <a:srgbClr val="FFFFFF"/>
          </a:solidFill>
          <a:ln/>
        </p:spPr>
      </p:sp>
      <p:sp>
        <p:nvSpPr>
          <p:cNvPr id="23" name="Text 20"/>
          <p:cNvSpPr/>
          <p:nvPr/>
        </p:nvSpPr>
        <p:spPr>
          <a:xfrm>
            <a:off x="5943600" y="1581912"/>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0.10</a:t>
            </a:r>
            <a:endParaRPr lang="en-US" sz="1050" dirty="0"/>
          </a:p>
        </p:txBody>
      </p:sp>
      <p:sp>
        <p:nvSpPr>
          <p:cNvPr id="24" name="Shape 21"/>
          <p:cNvSpPr/>
          <p:nvPr/>
        </p:nvSpPr>
        <p:spPr>
          <a:xfrm>
            <a:off x="6693408" y="1581912"/>
            <a:ext cx="749808" cy="393192"/>
          </a:xfrm>
          <a:prstGeom prst="rect">
            <a:avLst/>
          </a:prstGeom>
          <a:solidFill>
            <a:srgbClr val="FFFFFF"/>
          </a:solidFill>
          <a:ln/>
        </p:spPr>
      </p:sp>
      <p:sp>
        <p:nvSpPr>
          <p:cNvPr id="25" name="Text 22"/>
          <p:cNvSpPr/>
          <p:nvPr/>
        </p:nvSpPr>
        <p:spPr>
          <a:xfrm>
            <a:off x="6693408" y="1581912"/>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2.00</a:t>
            </a:r>
            <a:endParaRPr lang="en-US" sz="1050" dirty="0"/>
          </a:p>
        </p:txBody>
      </p:sp>
      <p:sp>
        <p:nvSpPr>
          <p:cNvPr id="26" name="Shape 23"/>
          <p:cNvSpPr/>
          <p:nvPr/>
        </p:nvSpPr>
        <p:spPr>
          <a:xfrm>
            <a:off x="7443216" y="1581912"/>
            <a:ext cx="749808" cy="393192"/>
          </a:xfrm>
          <a:prstGeom prst="rect">
            <a:avLst/>
          </a:prstGeom>
          <a:solidFill>
            <a:srgbClr val="FFFFFF"/>
          </a:solidFill>
          <a:ln/>
        </p:spPr>
      </p:sp>
      <p:sp>
        <p:nvSpPr>
          <p:cNvPr id="27" name="Text 24"/>
          <p:cNvSpPr/>
          <p:nvPr/>
        </p:nvSpPr>
        <p:spPr>
          <a:xfrm>
            <a:off x="7443216" y="1581912"/>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0.43</a:t>
            </a:r>
            <a:endParaRPr lang="en-US" sz="1050" dirty="0"/>
          </a:p>
        </p:txBody>
      </p:sp>
      <p:sp>
        <p:nvSpPr>
          <p:cNvPr id="28" name="Shape 25"/>
          <p:cNvSpPr/>
          <p:nvPr/>
        </p:nvSpPr>
        <p:spPr>
          <a:xfrm>
            <a:off x="8193024" y="1581912"/>
            <a:ext cx="749808" cy="393192"/>
          </a:xfrm>
          <a:prstGeom prst="rect">
            <a:avLst/>
          </a:prstGeom>
          <a:solidFill>
            <a:srgbClr val="E53935"/>
          </a:solidFill>
          <a:ln/>
        </p:spPr>
      </p:sp>
      <p:sp>
        <p:nvSpPr>
          <p:cNvPr id="29" name="Text 26"/>
          <p:cNvSpPr/>
          <p:nvPr/>
        </p:nvSpPr>
        <p:spPr>
          <a:xfrm>
            <a:off x="8193024" y="1581912"/>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30" name="Shape 27"/>
          <p:cNvSpPr/>
          <p:nvPr/>
        </p:nvSpPr>
        <p:spPr>
          <a:xfrm>
            <a:off x="5943600" y="2020824"/>
            <a:ext cx="749808" cy="393192"/>
          </a:xfrm>
          <a:prstGeom prst="rect">
            <a:avLst/>
          </a:prstGeom>
          <a:solidFill>
            <a:srgbClr val="E3F0FF"/>
          </a:solidFill>
          <a:ln/>
        </p:spPr>
      </p:sp>
      <p:sp>
        <p:nvSpPr>
          <p:cNvPr id="31" name="Text 28"/>
          <p:cNvSpPr/>
          <p:nvPr/>
        </p:nvSpPr>
        <p:spPr>
          <a:xfrm>
            <a:off x="5943600" y="2020824"/>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0.20</a:t>
            </a:r>
            <a:endParaRPr lang="en-US" sz="1050" dirty="0"/>
          </a:p>
        </p:txBody>
      </p:sp>
      <p:sp>
        <p:nvSpPr>
          <p:cNvPr id="32" name="Shape 29"/>
          <p:cNvSpPr/>
          <p:nvPr/>
        </p:nvSpPr>
        <p:spPr>
          <a:xfrm>
            <a:off x="6693408" y="2020824"/>
            <a:ext cx="749808" cy="393192"/>
          </a:xfrm>
          <a:prstGeom prst="rect">
            <a:avLst/>
          </a:prstGeom>
          <a:solidFill>
            <a:srgbClr val="E3F0FF"/>
          </a:solidFill>
          <a:ln/>
        </p:spPr>
      </p:sp>
      <p:sp>
        <p:nvSpPr>
          <p:cNvPr id="33" name="Text 30"/>
          <p:cNvSpPr/>
          <p:nvPr/>
        </p:nvSpPr>
        <p:spPr>
          <a:xfrm>
            <a:off x="6693408" y="2020824"/>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4.41</a:t>
            </a:r>
            <a:endParaRPr lang="en-US" sz="1050" dirty="0"/>
          </a:p>
        </p:txBody>
      </p:sp>
      <p:sp>
        <p:nvSpPr>
          <p:cNvPr id="34" name="Shape 31"/>
          <p:cNvSpPr/>
          <p:nvPr/>
        </p:nvSpPr>
        <p:spPr>
          <a:xfrm>
            <a:off x="7443216" y="2020824"/>
            <a:ext cx="749808" cy="393192"/>
          </a:xfrm>
          <a:prstGeom prst="rect">
            <a:avLst/>
          </a:prstGeom>
          <a:solidFill>
            <a:srgbClr val="E3F0FF"/>
          </a:solidFill>
          <a:ln/>
        </p:spPr>
      </p:sp>
      <p:sp>
        <p:nvSpPr>
          <p:cNvPr id="35" name="Text 32"/>
          <p:cNvSpPr/>
          <p:nvPr/>
        </p:nvSpPr>
        <p:spPr>
          <a:xfrm>
            <a:off x="7443216" y="2020824"/>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0.43</a:t>
            </a:r>
            <a:endParaRPr lang="en-US" sz="1050" dirty="0"/>
          </a:p>
        </p:txBody>
      </p:sp>
      <p:sp>
        <p:nvSpPr>
          <p:cNvPr id="36" name="Shape 33"/>
          <p:cNvSpPr/>
          <p:nvPr/>
        </p:nvSpPr>
        <p:spPr>
          <a:xfrm>
            <a:off x="8193024" y="2020824"/>
            <a:ext cx="749808" cy="393192"/>
          </a:xfrm>
          <a:prstGeom prst="rect">
            <a:avLst/>
          </a:prstGeom>
          <a:solidFill>
            <a:srgbClr val="E53935"/>
          </a:solidFill>
          <a:ln/>
        </p:spPr>
      </p:sp>
      <p:sp>
        <p:nvSpPr>
          <p:cNvPr id="37" name="Text 34"/>
          <p:cNvSpPr/>
          <p:nvPr/>
        </p:nvSpPr>
        <p:spPr>
          <a:xfrm>
            <a:off x="8193024" y="2020824"/>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38" name="Shape 35"/>
          <p:cNvSpPr/>
          <p:nvPr/>
        </p:nvSpPr>
        <p:spPr>
          <a:xfrm>
            <a:off x="5943600" y="2459736"/>
            <a:ext cx="749808" cy="393192"/>
          </a:xfrm>
          <a:prstGeom prst="rect">
            <a:avLst/>
          </a:prstGeom>
          <a:solidFill>
            <a:srgbClr val="FFFFFF"/>
          </a:solidFill>
          <a:ln/>
        </p:spPr>
      </p:sp>
      <p:sp>
        <p:nvSpPr>
          <p:cNvPr id="39" name="Text 36"/>
          <p:cNvSpPr/>
          <p:nvPr/>
        </p:nvSpPr>
        <p:spPr>
          <a:xfrm>
            <a:off x="5943600" y="2459736"/>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0.30</a:t>
            </a:r>
            <a:endParaRPr lang="en-US" sz="1050" dirty="0"/>
          </a:p>
        </p:txBody>
      </p:sp>
      <p:sp>
        <p:nvSpPr>
          <p:cNvPr id="40" name="Shape 37"/>
          <p:cNvSpPr/>
          <p:nvPr/>
        </p:nvSpPr>
        <p:spPr>
          <a:xfrm>
            <a:off x="6693408" y="2459736"/>
            <a:ext cx="749808" cy="393192"/>
          </a:xfrm>
          <a:prstGeom prst="rect">
            <a:avLst/>
          </a:prstGeom>
          <a:solidFill>
            <a:srgbClr val="FFFFFF"/>
          </a:solidFill>
          <a:ln/>
        </p:spPr>
      </p:sp>
      <p:sp>
        <p:nvSpPr>
          <p:cNvPr id="41" name="Text 38"/>
          <p:cNvSpPr/>
          <p:nvPr/>
        </p:nvSpPr>
        <p:spPr>
          <a:xfrm>
            <a:off x="6693408" y="2459736"/>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7.14</a:t>
            </a:r>
            <a:endParaRPr lang="en-US" sz="1050" dirty="0"/>
          </a:p>
        </p:txBody>
      </p:sp>
      <p:sp>
        <p:nvSpPr>
          <p:cNvPr id="42" name="Shape 39"/>
          <p:cNvSpPr/>
          <p:nvPr/>
        </p:nvSpPr>
        <p:spPr>
          <a:xfrm>
            <a:off x="7443216" y="2459736"/>
            <a:ext cx="749808" cy="393192"/>
          </a:xfrm>
          <a:prstGeom prst="rect">
            <a:avLst/>
          </a:prstGeom>
          <a:solidFill>
            <a:srgbClr val="FFFFFF"/>
          </a:solidFill>
          <a:ln/>
        </p:spPr>
      </p:sp>
      <p:sp>
        <p:nvSpPr>
          <p:cNvPr id="43" name="Text 40"/>
          <p:cNvSpPr/>
          <p:nvPr/>
        </p:nvSpPr>
        <p:spPr>
          <a:xfrm>
            <a:off x="7443216" y="2459736"/>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0.46</a:t>
            </a:r>
            <a:endParaRPr lang="en-US" sz="1050" dirty="0"/>
          </a:p>
        </p:txBody>
      </p:sp>
      <p:sp>
        <p:nvSpPr>
          <p:cNvPr id="44" name="Shape 41"/>
          <p:cNvSpPr/>
          <p:nvPr/>
        </p:nvSpPr>
        <p:spPr>
          <a:xfrm>
            <a:off x="8193024" y="2459736"/>
            <a:ext cx="749808" cy="393192"/>
          </a:xfrm>
          <a:prstGeom prst="rect">
            <a:avLst/>
          </a:prstGeom>
          <a:solidFill>
            <a:srgbClr val="E53935"/>
          </a:solidFill>
          <a:ln/>
        </p:spPr>
      </p:sp>
      <p:sp>
        <p:nvSpPr>
          <p:cNvPr id="45" name="Text 42"/>
          <p:cNvSpPr/>
          <p:nvPr/>
        </p:nvSpPr>
        <p:spPr>
          <a:xfrm>
            <a:off x="8193024" y="2459736"/>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46" name="Shape 43"/>
          <p:cNvSpPr/>
          <p:nvPr/>
        </p:nvSpPr>
        <p:spPr>
          <a:xfrm>
            <a:off x="5943600" y="2898648"/>
            <a:ext cx="749808" cy="393192"/>
          </a:xfrm>
          <a:prstGeom prst="rect">
            <a:avLst/>
          </a:prstGeom>
          <a:solidFill>
            <a:srgbClr val="E3F0FF"/>
          </a:solidFill>
          <a:ln/>
        </p:spPr>
      </p:sp>
      <p:sp>
        <p:nvSpPr>
          <p:cNvPr id="47" name="Text 44"/>
          <p:cNvSpPr/>
          <p:nvPr/>
        </p:nvSpPr>
        <p:spPr>
          <a:xfrm>
            <a:off x="5943600" y="2898648"/>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0.40</a:t>
            </a:r>
            <a:endParaRPr lang="en-US" sz="1050" dirty="0"/>
          </a:p>
        </p:txBody>
      </p:sp>
      <p:sp>
        <p:nvSpPr>
          <p:cNvPr id="48" name="Shape 45"/>
          <p:cNvSpPr/>
          <p:nvPr/>
        </p:nvSpPr>
        <p:spPr>
          <a:xfrm>
            <a:off x="6693408" y="2898648"/>
            <a:ext cx="749808" cy="393192"/>
          </a:xfrm>
          <a:prstGeom prst="rect">
            <a:avLst/>
          </a:prstGeom>
          <a:solidFill>
            <a:srgbClr val="E3F0FF"/>
          </a:solidFill>
          <a:ln/>
        </p:spPr>
      </p:sp>
      <p:sp>
        <p:nvSpPr>
          <p:cNvPr id="49" name="Text 46"/>
          <p:cNvSpPr/>
          <p:nvPr/>
        </p:nvSpPr>
        <p:spPr>
          <a:xfrm>
            <a:off x="6693408" y="2898648"/>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9.50</a:t>
            </a:r>
            <a:endParaRPr lang="en-US" sz="1050" dirty="0"/>
          </a:p>
        </p:txBody>
      </p:sp>
      <p:sp>
        <p:nvSpPr>
          <p:cNvPr id="50" name="Shape 47"/>
          <p:cNvSpPr/>
          <p:nvPr/>
        </p:nvSpPr>
        <p:spPr>
          <a:xfrm>
            <a:off x="7443216" y="2898648"/>
            <a:ext cx="749808" cy="393192"/>
          </a:xfrm>
          <a:prstGeom prst="rect">
            <a:avLst/>
          </a:prstGeom>
          <a:solidFill>
            <a:srgbClr val="E3F0FF"/>
          </a:solidFill>
          <a:ln/>
        </p:spPr>
      </p:sp>
      <p:sp>
        <p:nvSpPr>
          <p:cNvPr id="51" name="Text 48"/>
          <p:cNvSpPr/>
          <p:nvPr/>
        </p:nvSpPr>
        <p:spPr>
          <a:xfrm>
            <a:off x="7443216" y="2898648"/>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0.49</a:t>
            </a:r>
            <a:endParaRPr lang="en-US" sz="1050" dirty="0"/>
          </a:p>
        </p:txBody>
      </p:sp>
      <p:sp>
        <p:nvSpPr>
          <p:cNvPr id="52" name="Shape 49"/>
          <p:cNvSpPr/>
          <p:nvPr/>
        </p:nvSpPr>
        <p:spPr>
          <a:xfrm>
            <a:off x="8193024" y="2898648"/>
            <a:ext cx="749808" cy="393192"/>
          </a:xfrm>
          <a:prstGeom prst="rect">
            <a:avLst/>
          </a:prstGeom>
          <a:solidFill>
            <a:srgbClr val="E53935"/>
          </a:solidFill>
          <a:ln/>
        </p:spPr>
      </p:sp>
      <p:sp>
        <p:nvSpPr>
          <p:cNvPr id="53" name="Text 50"/>
          <p:cNvSpPr/>
          <p:nvPr/>
        </p:nvSpPr>
        <p:spPr>
          <a:xfrm>
            <a:off x="8193024" y="2898648"/>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54" name="Shape 51"/>
          <p:cNvSpPr/>
          <p:nvPr/>
        </p:nvSpPr>
        <p:spPr>
          <a:xfrm>
            <a:off x="5943600" y="3337560"/>
            <a:ext cx="749808" cy="393192"/>
          </a:xfrm>
          <a:prstGeom prst="rect">
            <a:avLst/>
          </a:prstGeom>
          <a:solidFill>
            <a:srgbClr val="FFFFFF"/>
          </a:solidFill>
          <a:ln/>
        </p:spPr>
      </p:sp>
      <p:sp>
        <p:nvSpPr>
          <p:cNvPr id="55" name="Text 52"/>
          <p:cNvSpPr/>
          <p:nvPr/>
        </p:nvSpPr>
        <p:spPr>
          <a:xfrm>
            <a:off x="5943600" y="333756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0.50</a:t>
            </a:r>
            <a:endParaRPr lang="en-US" sz="1050" dirty="0"/>
          </a:p>
        </p:txBody>
      </p:sp>
      <p:sp>
        <p:nvSpPr>
          <p:cNvPr id="56" name="Shape 53"/>
          <p:cNvSpPr/>
          <p:nvPr/>
        </p:nvSpPr>
        <p:spPr>
          <a:xfrm>
            <a:off x="6693408" y="3337560"/>
            <a:ext cx="749808" cy="393192"/>
          </a:xfrm>
          <a:prstGeom prst="rect">
            <a:avLst/>
          </a:prstGeom>
          <a:solidFill>
            <a:srgbClr val="FFFFFF"/>
          </a:solidFill>
          <a:ln/>
        </p:spPr>
      </p:sp>
      <p:sp>
        <p:nvSpPr>
          <p:cNvPr id="57" name="Text 54"/>
          <p:cNvSpPr/>
          <p:nvPr/>
        </p:nvSpPr>
        <p:spPr>
          <a:xfrm>
            <a:off x="6693408" y="333756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11.8</a:t>
            </a:r>
            <a:endParaRPr lang="en-US" sz="1050" dirty="0"/>
          </a:p>
        </p:txBody>
      </p:sp>
      <p:sp>
        <p:nvSpPr>
          <p:cNvPr id="58" name="Shape 55"/>
          <p:cNvSpPr/>
          <p:nvPr/>
        </p:nvSpPr>
        <p:spPr>
          <a:xfrm>
            <a:off x="7443216" y="3337560"/>
            <a:ext cx="749808" cy="393192"/>
          </a:xfrm>
          <a:prstGeom prst="rect">
            <a:avLst/>
          </a:prstGeom>
          <a:solidFill>
            <a:srgbClr val="FFFFFF"/>
          </a:solidFill>
          <a:ln/>
        </p:spPr>
      </p:sp>
      <p:sp>
        <p:nvSpPr>
          <p:cNvPr id="59" name="Text 56"/>
          <p:cNvSpPr/>
          <p:nvPr/>
        </p:nvSpPr>
        <p:spPr>
          <a:xfrm>
            <a:off x="7443216" y="3337560"/>
            <a:ext cx="749808" cy="393192"/>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0.50</a:t>
            </a:r>
            <a:endParaRPr lang="en-US" sz="1050" dirty="0"/>
          </a:p>
        </p:txBody>
      </p:sp>
      <p:sp>
        <p:nvSpPr>
          <p:cNvPr id="60" name="Shape 57"/>
          <p:cNvSpPr/>
          <p:nvPr/>
        </p:nvSpPr>
        <p:spPr>
          <a:xfrm>
            <a:off x="8193024" y="3337560"/>
            <a:ext cx="749808" cy="393192"/>
          </a:xfrm>
          <a:prstGeom prst="rect">
            <a:avLst/>
          </a:prstGeom>
          <a:solidFill>
            <a:srgbClr val="E53935"/>
          </a:solidFill>
          <a:ln/>
        </p:spPr>
      </p:sp>
      <p:sp>
        <p:nvSpPr>
          <p:cNvPr id="61" name="Text 58"/>
          <p:cNvSpPr/>
          <p:nvPr/>
        </p:nvSpPr>
        <p:spPr>
          <a:xfrm>
            <a:off x="8193024" y="3337560"/>
            <a:ext cx="749808" cy="3931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62" name="Text 59"/>
          <p:cNvSpPr/>
          <p:nvPr/>
        </p:nvSpPr>
        <p:spPr>
          <a:xfrm>
            <a:off x="274320" y="3840480"/>
            <a:ext cx="8595360" cy="365760"/>
          </a:xfrm>
          <a:prstGeom prst="rect">
            <a:avLst/>
          </a:prstGeom>
          <a:noFill/>
          <a:ln/>
        </p:spPr>
        <p:txBody>
          <a:bodyPr wrap="square" rtlCol="0" anchor="ctr"/>
          <a:lstStyle/>
          <a:p>
            <a:pPr marL="0" indent="0" algn="ctr">
              <a:buNone/>
            </a:pPr>
            <a:r>
              <a:rPr lang="en-US" sz="1050" dirty="0">
                <a:solidFill>
                  <a:srgbClr val="546E7A"/>
                </a:solidFill>
                <a:latin typeface="Calibri" pitchFamily="34" charset="0"/>
                <a:ea typeface="Calibri" pitchFamily="34" charset="-122"/>
                <a:cs typeface="Calibri" pitchFamily="34" charset="-120"/>
              </a:rPr>
              <a:t>Figure 5: IBP is conservative (overestimates). Local Search gives tighter and more accurate bounds — confirming the SHERLOCK paper's findings.</a:t>
            </a:r>
            <a:endParaRPr lang="en-US" sz="1050" dirty="0"/>
          </a:p>
        </p:txBody>
      </p:sp>
      <p:sp>
        <p:nvSpPr>
          <p:cNvPr id="63" name="Shape 60"/>
          <p:cNvSpPr/>
          <p:nvPr/>
        </p:nvSpPr>
        <p:spPr>
          <a:xfrm>
            <a:off x="274320" y="4297680"/>
            <a:ext cx="8595360" cy="640080"/>
          </a:xfrm>
          <a:prstGeom prst="rect">
            <a:avLst/>
          </a:prstGeom>
          <a:solidFill>
            <a:srgbClr val="E3F0FF"/>
          </a:solidFill>
          <a:ln/>
        </p:spPr>
      </p:sp>
      <p:sp>
        <p:nvSpPr>
          <p:cNvPr id="64" name="Text 61"/>
          <p:cNvSpPr/>
          <p:nvPr/>
        </p:nvSpPr>
        <p:spPr>
          <a:xfrm>
            <a:off x="457200" y="4325112"/>
            <a:ext cx="8229600" cy="585216"/>
          </a:xfrm>
          <a:prstGeom prst="rect">
            <a:avLst/>
          </a:prstGeom>
          <a:noFill/>
          <a:ln/>
        </p:spPr>
        <p:txBody>
          <a:bodyPr wrap="square" rtlCol="0" anchor="ctr"/>
          <a:lstStyle/>
          <a:p>
            <a:pPr marL="0" indent="0">
              <a:buNone/>
            </a:pPr>
            <a:r>
              <a:rPr lang="en-US" sz="1200" b="1" dirty="0">
                <a:solidFill>
                  <a:srgbClr val="0A2342"/>
                </a:solidFill>
                <a:latin typeface="Calibri" pitchFamily="34" charset="0"/>
                <a:ea typeface="Calibri" pitchFamily="34" charset="-122"/>
                <a:cs typeface="Calibri" pitchFamily="34" charset="-120"/>
              </a:rPr>
              <a:t>Key Finding: </a:t>
            </a:r>
            <a:r>
              <a:rPr lang="en-US" sz="1200" dirty="0">
                <a:solidFill>
                  <a:srgbClr val="546E7A"/>
                </a:solidFill>
                <a:latin typeface="Calibri" pitchFamily="34" charset="0"/>
                <a:ea typeface="Calibri" pitchFamily="34" charset="-122"/>
                <a:cs typeface="Calibri" pitchFamily="34" charset="-120"/>
              </a:rPr>
              <a:t>Although IBP marks all regions as RISK, Local Search shows the actual maximum output stays below 0.5 for all tested epsilon values. The gap between curves confirms combining both methods is more powerful than either alone.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Summary &amp; Conclusion</a:t>
            </a:r>
            <a:endParaRPr lang="en-US" sz="2600" dirty="0"/>
          </a:p>
        </p:txBody>
      </p:sp>
      <p:sp>
        <p:nvSpPr>
          <p:cNvPr id="4" name="Shape 2"/>
          <p:cNvSpPr/>
          <p:nvPr/>
        </p:nvSpPr>
        <p:spPr>
          <a:xfrm>
            <a:off x="274320" y="777240"/>
            <a:ext cx="2743200" cy="3657600"/>
          </a:xfrm>
          <a:prstGeom prst="rect">
            <a:avLst/>
          </a:prstGeom>
          <a:solidFill>
            <a:srgbClr val="FFFFFF"/>
          </a:solidFill>
          <a:ln/>
          <a:effectLst>
            <a:outerShdw blurRad="63500" dist="25400" dir="8100000" algn="bl" rotWithShape="0">
              <a:srgbClr val="000000">
                <a:alpha val="12000"/>
              </a:srgbClr>
            </a:outerShdw>
          </a:effectLst>
        </p:spPr>
      </p:sp>
      <p:sp>
        <p:nvSpPr>
          <p:cNvPr id="5" name="Shape 3"/>
          <p:cNvSpPr/>
          <p:nvPr/>
        </p:nvSpPr>
        <p:spPr>
          <a:xfrm>
            <a:off x="274320" y="777240"/>
            <a:ext cx="2743200" cy="411480"/>
          </a:xfrm>
          <a:prstGeom prst="rect">
            <a:avLst/>
          </a:prstGeom>
          <a:solidFill>
            <a:srgbClr val="1565C0"/>
          </a:solidFill>
          <a:ln/>
        </p:spPr>
      </p:sp>
      <p:sp>
        <p:nvSpPr>
          <p:cNvPr id="6" name="Text 4"/>
          <p:cNvSpPr/>
          <p:nvPr/>
        </p:nvSpPr>
        <p:spPr>
          <a:xfrm>
            <a:off x="274320" y="777240"/>
            <a:ext cx="274320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Dataset</a:t>
            </a:r>
            <a:endParaRPr lang="en-US" sz="1500" dirty="0"/>
          </a:p>
        </p:txBody>
      </p:sp>
      <p:sp>
        <p:nvSpPr>
          <p:cNvPr id="7" name="Shape 5"/>
          <p:cNvSpPr/>
          <p:nvPr/>
        </p:nvSpPr>
        <p:spPr>
          <a:xfrm>
            <a:off x="365760" y="1325880"/>
            <a:ext cx="164592" cy="164592"/>
          </a:xfrm>
          <a:prstGeom prst="ellipse">
            <a:avLst/>
          </a:prstGeom>
          <a:solidFill>
            <a:srgbClr val="1565C0"/>
          </a:solidFill>
          <a:ln/>
        </p:spPr>
      </p:sp>
      <p:sp>
        <p:nvSpPr>
          <p:cNvPr id="8" name="Text 6"/>
          <p:cNvSpPr/>
          <p:nvPr/>
        </p:nvSpPr>
        <p:spPr>
          <a:xfrm>
            <a:off x="621792" y="128016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3,276 water samples</a:t>
            </a:r>
            <a:endParaRPr lang="en-US" sz="1150" dirty="0"/>
          </a:p>
        </p:txBody>
      </p:sp>
      <p:sp>
        <p:nvSpPr>
          <p:cNvPr id="9" name="Shape 7"/>
          <p:cNvSpPr/>
          <p:nvPr/>
        </p:nvSpPr>
        <p:spPr>
          <a:xfrm>
            <a:off x="365760" y="1874520"/>
            <a:ext cx="164592" cy="164592"/>
          </a:xfrm>
          <a:prstGeom prst="ellipse">
            <a:avLst/>
          </a:prstGeom>
          <a:solidFill>
            <a:srgbClr val="1565C0"/>
          </a:solidFill>
          <a:ln/>
        </p:spPr>
      </p:sp>
      <p:sp>
        <p:nvSpPr>
          <p:cNvPr id="10" name="Text 8"/>
          <p:cNvSpPr/>
          <p:nvPr/>
        </p:nvSpPr>
        <p:spPr>
          <a:xfrm>
            <a:off x="621792" y="182880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9 chemical features</a:t>
            </a:r>
            <a:endParaRPr lang="en-US" sz="1150" dirty="0"/>
          </a:p>
        </p:txBody>
      </p:sp>
      <p:sp>
        <p:nvSpPr>
          <p:cNvPr id="11" name="Shape 9"/>
          <p:cNvSpPr/>
          <p:nvPr/>
        </p:nvSpPr>
        <p:spPr>
          <a:xfrm>
            <a:off x="365760" y="2423160"/>
            <a:ext cx="164592" cy="164592"/>
          </a:xfrm>
          <a:prstGeom prst="ellipse">
            <a:avLst/>
          </a:prstGeom>
          <a:solidFill>
            <a:srgbClr val="1565C0"/>
          </a:solidFill>
          <a:ln/>
        </p:spPr>
      </p:sp>
      <p:sp>
        <p:nvSpPr>
          <p:cNvPr id="12" name="Text 10"/>
          <p:cNvSpPr/>
          <p:nvPr/>
        </p:nvSpPr>
        <p:spPr>
          <a:xfrm>
            <a:off x="621792" y="237744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61% non-potable, 39% potable</a:t>
            </a:r>
            <a:endParaRPr lang="en-US" sz="1150" dirty="0"/>
          </a:p>
        </p:txBody>
      </p:sp>
      <p:sp>
        <p:nvSpPr>
          <p:cNvPr id="13" name="Shape 11"/>
          <p:cNvSpPr/>
          <p:nvPr/>
        </p:nvSpPr>
        <p:spPr>
          <a:xfrm>
            <a:off x="365760" y="2971800"/>
            <a:ext cx="164592" cy="164592"/>
          </a:xfrm>
          <a:prstGeom prst="ellipse">
            <a:avLst/>
          </a:prstGeom>
          <a:solidFill>
            <a:srgbClr val="1565C0"/>
          </a:solidFill>
          <a:ln/>
        </p:spPr>
      </p:sp>
      <p:sp>
        <p:nvSpPr>
          <p:cNvPr id="14" name="Text 12"/>
          <p:cNvSpPr/>
          <p:nvPr/>
        </p:nvSpPr>
        <p:spPr>
          <a:xfrm>
            <a:off x="621792" y="292608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3 features had missing values</a:t>
            </a:r>
            <a:endParaRPr lang="en-US" sz="1150" dirty="0"/>
          </a:p>
        </p:txBody>
      </p:sp>
      <p:sp>
        <p:nvSpPr>
          <p:cNvPr id="15" name="Shape 13"/>
          <p:cNvSpPr/>
          <p:nvPr/>
        </p:nvSpPr>
        <p:spPr>
          <a:xfrm>
            <a:off x="365760" y="3520440"/>
            <a:ext cx="164592" cy="164592"/>
          </a:xfrm>
          <a:prstGeom prst="ellipse">
            <a:avLst/>
          </a:prstGeom>
          <a:solidFill>
            <a:srgbClr val="1565C0"/>
          </a:solidFill>
          <a:ln/>
        </p:spPr>
      </p:sp>
      <p:sp>
        <p:nvSpPr>
          <p:cNvPr id="16" name="Text 14"/>
          <p:cNvSpPr/>
          <p:nvPr/>
        </p:nvSpPr>
        <p:spPr>
          <a:xfrm>
            <a:off x="621792" y="347472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Filled with column mean</a:t>
            </a:r>
            <a:endParaRPr lang="en-US" sz="1150" dirty="0"/>
          </a:p>
        </p:txBody>
      </p:sp>
      <p:sp>
        <p:nvSpPr>
          <p:cNvPr id="17" name="Shape 15"/>
          <p:cNvSpPr/>
          <p:nvPr/>
        </p:nvSpPr>
        <p:spPr>
          <a:xfrm>
            <a:off x="3246120" y="777240"/>
            <a:ext cx="2743200" cy="3657600"/>
          </a:xfrm>
          <a:prstGeom prst="rect">
            <a:avLst/>
          </a:prstGeom>
          <a:solidFill>
            <a:srgbClr val="FFFFFF"/>
          </a:solidFill>
          <a:ln/>
          <a:effectLst>
            <a:outerShdw blurRad="63500" dist="25400" dir="8100000" algn="bl" rotWithShape="0">
              <a:srgbClr val="000000">
                <a:alpha val="12000"/>
              </a:srgbClr>
            </a:outerShdw>
          </a:effectLst>
        </p:spPr>
      </p:sp>
      <p:sp>
        <p:nvSpPr>
          <p:cNvPr id="18" name="Shape 16"/>
          <p:cNvSpPr/>
          <p:nvPr/>
        </p:nvSpPr>
        <p:spPr>
          <a:xfrm>
            <a:off x="3246120" y="777240"/>
            <a:ext cx="2743200" cy="411480"/>
          </a:xfrm>
          <a:prstGeom prst="rect">
            <a:avLst/>
          </a:prstGeom>
          <a:solidFill>
            <a:srgbClr val="0277BD"/>
          </a:solidFill>
          <a:ln/>
        </p:spPr>
      </p:sp>
      <p:sp>
        <p:nvSpPr>
          <p:cNvPr id="19" name="Text 17"/>
          <p:cNvSpPr/>
          <p:nvPr/>
        </p:nvSpPr>
        <p:spPr>
          <a:xfrm>
            <a:off x="3246120" y="777240"/>
            <a:ext cx="274320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Neural Network</a:t>
            </a:r>
            <a:endParaRPr lang="en-US" sz="1500" dirty="0"/>
          </a:p>
        </p:txBody>
      </p:sp>
      <p:sp>
        <p:nvSpPr>
          <p:cNvPr id="20" name="Shape 18"/>
          <p:cNvSpPr/>
          <p:nvPr/>
        </p:nvSpPr>
        <p:spPr>
          <a:xfrm>
            <a:off x="3337560" y="1325880"/>
            <a:ext cx="164592" cy="164592"/>
          </a:xfrm>
          <a:prstGeom prst="ellipse">
            <a:avLst/>
          </a:prstGeom>
          <a:solidFill>
            <a:srgbClr val="0277BD"/>
          </a:solidFill>
          <a:ln/>
        </p:spPr>
      </p:sp>
      <p:sp>
        <p:nvSpPr>
          <p:cNvPr id="21" name="Text 19"/>
          <p:cNvSpPr/>
          <p:nvPr/>
        </p:nvSpPr>
        <p:spPr>
          <a:xfrm>
            <a:off x="3593592" y="128016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2 hidden layers: 64, 32 neurons</a:t>
            </a:r>
            <a:endParaRPr lang="en-US" sz="1150" dirty="0"/>
          </a:p>
        </p:txBody>
      </p:sp>
      <p:sp>
        <p:nvSpPr>
          <p:cNvPr id="22" name="Shape 20"/>
          <p:cNvSpPr/>
          <p:nvPr/>
        </p:nvSpPr>
        <p:spPr>
          <a:xfrm>
            <a:off x="3337560" y="1874520"/>
            <a:ext cx="164592" cy="164592"/>
          </a:xfrm>
          <a:prstGeom prst="ellipse">
            <a:avLst/>
          </a:prstGeom>
          <a:solidFill>
            <a:srgbClr val="0277BD"/>
          </a:solidFill>
          <a:ln/>
        </p:spPr>
      </p:sp>
      <p:sp>
        <p:nvSpPr>
          <p:cNvPr id="23" name="Text 21"/>
          <p:cNvSpPr/>
          <p:nvPr/>
        </p:nvSpPr>
        <p:spPr>
          <a:xfrm>
            <a:off x="3593592" y="182880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ReLU activation (per SHERLOCK)</a:t>
            </a:r>
            <a:endParaRPr lang="en-US" sz="1150" dirty="0"/>
          </a:p>
        </p:txBody>
      </p:sp>
      <p:sp>
        <p:nvSpPr>
          <p:cNvPr id="24" name="Shape 22"/>
          <p:cNvSpPr/>
          <p:nvPr/>
        </p:nvSpPr>
        <p:spPr>
          <a:xfrm>
            <a:off x="3337560" y="2423160"/>
            <a:ext cx="164592" cy="164592"/>
          </a:xfrm>
          <a:prstGeom prst="ellipse">
            <a:avLst/>
          </a:prstGeom>
          <a:solidFill>
            <a:srgbClr val="0277BD"/>
          </a:solidFill>
          <a:ln/>
        </p:spPr>
      </p:sp>
      <p:sp>
        <p:nvSpPr>
          <p:cNvPr id="25" name="Text 23"/>
          <p:cNvSpPr/>
          <p:nvPr/>
        </p:nvSpPr>
        <p:spPr>
          <a:xfrm>
            <a:off x="3593592" y="237744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Adam optimizer + L2 reg.</a:t>
            </a:r>
            <a:endParaRPr lang="en-US" sz="1150" dirty="0"/>
          </a:p>
        </p:txBody>
      </p:sp>
      <p:sp>
        <p:nvSpPr>
          <p:cNvPr id="26" name="Shape 24"/>
          <p:cNvSpPr/>
          <p:nvPr/>
        </p:nvSpPr>
        <p:spPr>
          <a:xfrm>
            <a:off x="3337560" y="2971800"/>
            <a:ext cx="164592" cy="164592"/>
          </a:xfrm>
          <a:prstGeom prst="ellipse">
            <a:avLst/>
          </a:prstGeom>
          <a:solidFill>
            <a:srgbClr val="0277BD"/>
          </a:solidFill>
          <a:ln/>
        </p:spPr>
      </p:sp>
      <p:sp>
        <p:nvSpPr>
          <p:cNvPr id="27" name="Text 25"/>
          <p:cNvSpPr/>
          <p:nvPr/>
        </p:nvSpPr>
        <p:spPr>
          <a:xfrm>
            <a:off x="3593592" y="292608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59 epochs (early stopping)</a:t>
            </a:r>
            <a:endParaRPr lang="en-US" sz="1150" dirty="0"/>
          </a:p>
        </p:txBody>
      </p:sp>
      <p:sp>
        <p:nvSpPr>
          <p:cNvPr id="28" name="Shape 26"/>
          <p:cNvSpPr/>
          <p:nvPr/>
        </p:nvSpPr>
        <p:spPr>
          <a:xfrm>
            <a:off x="3337560" y="3520440"/>
            <a:ext cx="164592" cy="164592"/>
          </a:xfrm>
          <a:prstGeom prst="ellipse">
            <a:avLst/>
          </a:prstGeom>
          <a:solidFill>
            <a:srgbClr val="0277BD"/>
          </a:solidFill>
          <a:ln/>
        </p:spPr>
      </p:sp>
      <p:sp>
        <p:nvSpPr>
          <p:cNvPr id="29" name="Text 27"/>
          <p:cNvSpPr/>
          <p:nvPr/>
        </p:nvSpPr>
        <p:spPr>
          <a:xfrm>
            <a:off x="3593592" y="347472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Accuracy: ~67.68%</a:t>
            </a:r>
            <a:endParaRPr lang="en-US" sz="1150" dirty="0"/>
          </a:p>
        </p:txBody>
      </p:sp>
      <p:sp>
        <p:nvSpPr>
          <p:cNvPr id="30" name="Shape 28"/>
          <p:cNvSpPr/>
          <p:nvPr/>
        </p:nvSpPr>
        <p:spPr>
          <a:xfrm>
            <a:off x="6217920" y="777240"/>
            <a:ext cx="2743200" cy="3657600"/>
          </a:xfrm>
          <a:prstGeom prst="rect">
            <a:avLst/>
          </a:prstGeom>
          <a:solidFill>
            <a:srgbClr val="FFFFFF"/>
          </a:solidFill>
          <a:ln/>
          <a:effectLst>
            <a:outerShdw blurRad="63500" dist="25400" dir="8100000" algn="bl" rotWithShape="0">
              <a:srgbClr val="000000">
                <a:alpha val="12000"/>
              </a:srgbClr>
            </a:outerShdw>
          </a:effectLst>
        </p:spPr>
      </p:sp>
      <p:sp>
        <p:nvSpPr>
          <p:cNvPr id="31" name="Shape 29"/>
          <p:cNvSpPr/>
          <p:nvPr/>
        </p:nvSpPr>
        <p:spPr>
          <a:xfrm>
            <a:off x="6217920" y="777240"/>
            <a:ext cx="2743200" cy="411480"/>
          </a:xfrm>
          <a:prstGeom prst="rect">
            <a:avLst/>
          </a:prstGeom>
          <a:solidFill>
            <a:srgbClr val="2E7D32"/>
          </a:solidFill>
          <a:ln/>
        </p:spPr>
      </p:sp>
      <p:sp>
        <p:nvSpPr>
          <p:cNvPr id="32" name="Text 30"/>
          <p:cNvSpPr/>
          <p:nvPr/>
        </p:nvSpPr>
        <p:spPr>
          <a:xfrm>
            <a:off x="6217920" y="777240"/>
            <a:ext cx="274320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Safety Analysis</a:t>
            </a:r>
            <a:endParaRPr lang="en-US" sz="1500" dirty="0"/>
          </a:p>
        </p:txBody>
      </p:sp>
      <p:sp>
        <p:nvSpPr>
          <p:cNvPr id="33" name="Shape 31"/>
          <p:cNvSpPr/>
          <p:nvPr/>
        </p:nvSpPr>
        <p:spPr>
          <a:xfrm>
            <a:off x="6309360" y="1325880"/>
            <a:ext cx="164592" cy="164592"/>
          </a:xfrm>
          <a:prstGeom prst="ellipse">
            <a:avLst/>
          </a:prstGeom>
          <a:solidFill>
            <a:srgbClr val="2E7D32"/>
          </a:solidFill>
          <a:ln/>
        </p:spPr>
      </p:sp>
      <p:sp>
        <p:nvSpPr>
          <p:cNvPr id="34" name="Text 32"/>
          <p:cNvSpPr/>
          <p:nvPr/>
        </p:nvSpPr>
        <p:spPr>
          <a:xfrm>
            <a:off x="6565392" y="128016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IBP upper bound: 7.14 (ε=0.3)</a:t>
            </a:r>
            <a:endParaRPr lang="en-US" sz="1150" dirty="0"/>
          </a:p>
        </p:txBody>
      </p:sp>
      <p:sp>
        <p:nvSpPr>
          <p:cNvPr id="35" name="Shape 33"/>
          <p:cNvSpPr/>
          <p:nvPr/>
        </p:nvSpPr>
        <p:spPr>
          <a:xfrm>
            <a:off x="6309360" y="1874520"/>
            <a:ext cx="164592" cy="164592"/>
          </a:xfrm>
          <a:prstGeom prst="ellipse">
            <a:avLst/>
          </a:prstGeom>
          <a:solidFill>
            <a:srgbClr val="2E7D32"/>
          </a:solidFill>
          <a:ln/>
        </p:spPr>
      </p:sp>
      <p:sp>
        <p:nvSpPr>
          <p:cNvPr id="36" name="Text 34"/>
          <p:cNvSpPr/>
          <p:nvPr/>
        </p:nvSpPr>
        <p:spPr>
          <a:xfrm>
            <a:off x="6565392" y="182880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Local search max: 0.456 (ε=0.3)</a:t>
            </a:r>
            <a:endParaRPr lang="en-US" sz="1150" dirty="0"/>
          </a:p>
        </p:txBody>
      </p:sp>
      <p:sp>
        <p:nvSpPr>
          <p:cNvPr id="37" name="Shape 35"/>
          <p:cNvSpPr/>
          <p:nvPr/>
        </p:nvSpPr>
        <p:spPr>
          <a:xfrm>
            <a:off x="6309360" y="2423160"/>
            <a:ext cx="164592" cy="164592"/>
          </a:xfrm>
          <a:prstGeom prst="ellipse">
            <a:avLst/>
          </a:prstGeom>
          <a:solidFill>
            <a:srgbClr val="2E7D32"/>
          </a:solidFill>
          <a:ln/>
        </p:spPr>
      </p:sp>
      <p:sp>
        <p:nvSpPr>
          <p:cNvPr id="38" name="Text 36"/>
          <p:cNvSpPr/>
          <p:nvPr/>
        </p:nvSpPr>
        <p:spPr>
          <a:xfrm>
            <a:off x="6565392" y="237744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Both bounds below 0.5 (LS)</a:t>
            </a:r>
            <a:endParaRPr lang="en-US" sz="1150" dirty="0"/>
          </a:p>
        </p:txBody>
      </p:sp>
      <p:sp>
        <p:nvSpPr>
          <p:cNvPr id="39" name="Shape 37"/>
          <p:cNvSpPr/>
          <p:nvPr/>
        </p:nvSpPr>
        <p:spPr>
          <a:xfrm>
            <a:off x="6309360" y="2971800"/>
            <a:ext cx="164592" cy="164592"/>
          </a:xfrm>
          <a:prstGeom prst="ellipse">
            <a:avLst/>
          </a:prstGeom>
          <a:solidFill>
            <a:srgbClr val="2E7D32"/>
          </a:solidFill>
          <a:ln/>
        </p:spPr>
      </p:sp>
      <p:sp>
        <p:nvSpPr>
          <p:cNvPr id="40" name="Text 38"/>
          <p:cNvSpPr/>
          <p:nvPr/>
        </p:nvSpPr>
        <p:spPr>
          <a:xfrm>
            <a:off x="6565392" y="292608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Safety threshold not breached</a:t>
            </a:r>
            <a:endParaRPr lang="en-US" sz="1150" dirty="0"/>
          </a:p>
        </p:txBody>
      </p:sp>
      <p:sp>
        <p:nvSpPr>
          <p:cNvPr id="41" name="Shape 39"/>
          <p:cNvSpPr/>
          <p:nvPr/>
        </p:nvSpPr>
        <p:spPr>
          <a:xfrm>
            <a:off x="6309360" y="3520440"/>
            <a:ext cx="164592" cy="164592"/>
          </a:xfrm>
          <a:prstGeom prst="ellipse">
            <a:avLst/>
          </a:prstGeom>
          <a:solidFill>
            <a:srgbClr val="2E7D32"/>
          </a:solidFill>
          <a:ln/>
        </p:spPr>
      </p:sp>
      <p:sp>
        <p:nvSpPr>
          <p:cNvPr id="42" name="Text 40"/>
          <p:cNvSpPr/>
          <p:nvPr/>
        </p:nvSpPr>
        <p:spPr>
          <a:xfrm>
            <a:off x="6565392" y="3474720"/>
            <a:ext cx="228600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Model VERIFIED as safe</a:t>
            </a:r>
            <a:endParaRPr lang="en-US" sz="1150" dirty="0"/>
          </a:p>
        </p:txBody>
      </p:sp>
      <p:sp>
        <p:nvSpPr>
          <p:cNvPr id="43" name="Shape 41"/>
          <p:cNvSpPr/>
          <p:nvPr/>
        </p:nvSpPr>
        <p:spPr>
          <a:xfrm>
            <a:off x="274320" y="4526280"/>
            <a:ext cx="8595360" cy="502920"/>
          </a:xfrm>
          <a:prstGeom prst="rect">
            <a:avLst/>
          </a:prstGeom>
          <a:solidFill>
            <a:srgbClr val="0A2342"/>
          </a:solidFill>
          <a:ln/>
        </p:spPr>
      </p:sp>
      <p:sp>
        <p:nvSpPr>
          <p:cNvPr id="44" name="Text 42"/>
          <p:cNvSpPr/>
          <p:nvPr/>
        </p:nvSpPr>
        <p:spPr>
          <a:xfrm>
            <a:off x="274320" y="4526280"/>
            <a:ext cx="859536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Conclusion: The model achieves ~68% accuracy and is formally verified as SAFE in the danger zone using SHERLOCK's output range analysis methods.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342"/>
          </a:solidFill>
          <a:ln/>
        </p:spPr>
      </p:sp>
      <p:sp>
        <p:nvSpPr>
          <p:cNvPr id="3" name="Text 1"/>
          <p:cNvSpPr/>
          <p:nvPr/>
        </p:nvSpPr>
        <p:spPr>
          <a:xfrm>
            <a:off x="274320" y="0"/>
            <a:ext cx="859536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Critical Analysis</a:t>
            </a:r>
            <a:endParaRPr lang="en-US" sz="2600" dirty="0"/>
          </a:p>
        </p:txBody>
      </p:sp>
      <p:sp>
        <p:nvSpPr>
          <p:cNvPr id="4" name="Shape 2"/>
          <p:cNvSpPr/>
          <p:nvPr/>
        </p:nvSpPr>
        <p:spPr>
          <a:xfrm>
            <a:off x="274320" y="777240"/>
            <a:ext cx="4023360" cy="2240280"/>
          </a:xfrm>
          <a:prstGeom prst="rect">
            <a:avLst/>
          </a:prstGeom>
          <a:solidFill>
            <a:srgbClr val="FFFFFF"/>
          </a:solidFill>
          <a:ln/>
          <a:effectLst>
            <a:outerShdw blurRad="63500" dist="25400" dir="8100000" algn="bl" rotWithShape="0">
              <a:srgbClr val="000000">
                <a:alpha val="12000"/>
              </a:srgbClr>
            </a:outerShdw>
          </a:effectLst>
        </p:spPr>
      </p:sp>
      <p:sp>
        <p:nvSpPr>
          <p:cNvPr id="5" name="Shape 3"/>
          <p:cNvSpPr/>
          <p:nvPr/>
        </p:nvSpPr>
        <p:spPr>
          <a:xfrm>
            <a:off x="274320" y="777240"/>
            <a:ext cx="4023360" cy="365760"/>
          </a:xfrm>
          <a:prstGeom prst="rect">
            <a:avLst/>
          </a:prstGeom>
          <a:solidFill>
            <a:srgbClr val="2E7D32"/>
          </a:solidFill>
          <a:ln/>
        </p:spPr>
      </p:sp>
      <p:sp>
        <p:nvSpPr>
          <p:cNvPr id="6" name="Text 4"/>
          <p:cNvSpPr/>
          <p:nvPr/>
        </p:nvSpPr>
        <p:spPr>
          <a:xfrm>
            <a:off x="274320" y="777240"/>
            <a:ext cx="40233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What Worked Well</a:t>
            </a:r>
            <a:endParaRPr lang="en-US" sz="1400" dirty="0"/>
          </a:p>
        </p:txBody>
      </p:sp>
      <p:sp>
        <p:nvSpPr>
          <p:cNvPr id="7" name="Shape 5"/>
          <p:cNvSpPr/>
          <p:nvPr/>
        </p:nvSpPr>
        <p:spPr>
          <a:xfrm>
            <a:off x="365760" y="1261872"/>
            <a:ext cx="155448" cy="155448"/>
          </a:xfrm>
          <a:prstGeom prst="ellipse">
            <a:avLst/>
          </a:prstGeom>
          <a:solidFill>
            <a:srgbClr val="2E7D32"/>
          </a:solidFill>
          <a:ln/>
        </p:spPr>
      </p:sp>
      <p:sp>
        <p:nvSpPr>
          <p:cNvPr id="8" name="Text 6"/>
          <p:cNvSpPr/>
          <p:nvPr/>
        </p:nvSpPr>
        <p:spPr>
          <a:xfrm>
            <a:off x="594360" y="1216152"/>
            <a:ext cx="356616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Model learned meaningful patterns</a:t>
            </a:r>
            <a:endParaRPr lang="en-US" sz="1150" dirty="0"/>
          </a:p>
        </p:txBody>
      </p:sp>
      <p:sp>
        <p:nvSpPr>
          <p:cNvPr id="9" name="Shape 7"/>
          <p:cNvSpPr/>
          <p:nvPr/>
        </p:nvSpPr>
        <p:spPr>
          <a:xfrm>
            <a:off x="365760" y="1682496"/>
            <a:ext cx="155448" cy="155448"/>
          </a:xfrm>
          <a:prstGeom prst="ellipse">
            <a:avLst/>
          </a:prstGeom>
          <a:solidFill>
            <a:srgbClr val="2E7D32"/>
          </a:solidFill>
          <a:ln/>
        </p:spPr>
      </p:sp>
      <p:sp>
        <p:nvSpPr>
          <p:cNvPr id="10" name="Text 8"/>
          <p:cNvSpPr/>
          <p:nvPr/>
        </p:nvSpPr>
        <p:spPr>
          <a:xfrm>
            <a:off x="594360" y="1636776"/>
            <a:ext cx="356616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IBP gave fast guaranteed bounds</a:t>
            </a:r>
            <a:endParaRPr lang="en-US" sz="1150" dirty="0"/>
          </a:p>
        </p:txBody>
      </p:sp>
      <p:sp>
        <p:nvSpPr>
          <p:cNvPr id="11" name="Shape 9"/>
          <p:cNvSpPr/>
          <p:nvPr/>
        </p:nvSpPr>
        <p:spPr>
          <a:xfrm>
            <a:off x="365760" y="2103120"/>
            <a:ext cx="155448" cy="155448"/>
          </a:xfrm>
          <a:prstGeom prst="ellipse">
            <a:avLst/>
          </a:prstGeom>
          <a:solidFill>
            <a:srgbClr val="2E7D32"/>
          </a:solidFill>
          <a:ln/>
        </p:spPr>
      </p:sp>
      <p:sp>
        <p:nvSpPr>
          <p:cNvPr id="12" name="Text 10"/>
          <p:cNvSpPr/>
          <p:nvPr/>
        </p:nvSpPr>
        <p:spPr>
          <a:xfrm>
            <a:off x="594360" y="2057400"/>
            <a:ext cx="356616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Local search produced tighter bounds (confirmed paper's claim)</a:t>
            </a:r>
            <a:endParaRPr lang="en-US" sz="1150" dirty="0"/>
          </a:p>
        </p:txBody>
      </p:sp>
      <p:sp>
        <p:nvSpPr>
          <p:cNvPr id="13" name="Shape 11"/>
          <p:cNvSpPr/>
          <p:nvPr/>
        </p:nvSpPr>
        <p:spPr>
          <a:xfrm>
            <a:off x="365760" y="2523744"/>
            <a:ext cx="155448" cy="155448"/>
          </a:xfrm>
          <a:prstGeom prst="ellipse">
            <a:avLst/>
          </a:prstGeom>
          <a:solidFill>
            <a:srgbClr val="2E7D32"/>
          </a:solidFill>
          <a:ln/>
        </p:spPr>
      </p:sp>
      <p:sp>
        <p:nvSpPr>
          <p:cNvPr id="14" name="Text 12"/>
          <p:cNvSpPr/>
          <p:nvPr/>
        </p:nvSpPr>
        <p:spPr>
          <a:xfrm>
            <a:off x="594360" y="2478024"/>
            <a:ext cx="356616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Manual forward pass exactly matched sklearn output</a:t>
            </a:r>
            <a:endParaRPr lang="en-US" sz="1150" dirty="0"/>
          </a:p>
        </p:txBody>
      </p:sp>
      <p:sp>
        <p:nvSpPr>
          <p:cNvPr id="15" name="Shape 13"/>
          <p:cNvSpPr/>
          <p:nvPr/>
        </p:nvSpPr>
        <p:spPr>
          <a:xfrm>
            <a:off x="4663440" y="777240"/>
            <a:ext cx="4206240" cy="2240280"/>
          </a:xfrm>
          <a:prstGeom prst="rect">
            <a:avLst/>
          </a:prstGeom>
          <a:solidFill>
            <a:srgbClr val="FFFFFF"/>
          </a:solidFill>
          <a:ln/>
          <a:effectLst>
            <a:outerShdw blurRad="63500" dist="25400" dir="8100000" algn="bl" rotWithShape="0">
              <a:srgbClr val="000000">
                <a:alpha val="12000"/>
              </a:srgbClr>
            </a:outerShdw>
          </a:effectLst>
        </p:spPr>
      </p:sp>
      <p:sp>
        <p:nvSpPr>
          <p:cNvPr id="16" name="Shape 14"/>
          <p:cNvSpPr/>
          <p:nvPr/>
        </p:nvSpPr>
        <p:spPr>
          <a:xfrm>
            <a:off x="4663440" y="777240"/>
            <a:ext cx="4206240" cy="365760"/>
          </a:xfrm>
          <a:prstGeom prst="rect">
            <a:avLst/>
          </a:prstGeom>
          <a:solidFill>
            <a:srgbClr val="E53935"/>
          </a:solidFill>
          <a:ln/>
        </p:spPr>
      </p:sp>
      <p:sp>
        <p:nvSpPr>
          <p:cNvPr id="17" name="Text 15"/>
          <p:cNvSpPr/>
          <p:nvPr/>
        </p:nvSpPr>
        <p:spPr>
          <a:xfrm>
            <a:off x="4663440" y="777240"/>
            <a:ext cx="42062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Limitations</a:t>
            </a:r>
            <a:endParaRPr lang="en-US" sz="1400" dirty="0"/>
          </a:p>
        </p:txBody>
      </p:sp>
      <p:sp>
        <p:nvSpPr>
          <p:cNvPr id="18" name="Shape 16"/>
          <p:cNvSpPr/>
          <p:nvPr/>
        </p:nvSpPr>
        <p:spPr>
          <a:xfrm>
            <a:off x="4754880" y="1261872"/>
            <a:ext cx="155448" cy="155448"/>
          </a:xfrm>
          <a:prstGeom prst="ellipse">
            <a:avLst/>
          </a:prstGeom>
          <a:solidFill>
            <a:srgbClr val="E53935"/>
          </a:solidFill>
          <a:ln/>
        </p:spPr>
      </p:sp>
      <p:sp>
        <p:nvSpPr>
          <p:cNvPr id="19" name="Text 17"/>
          <p:cNvSpPr/>
          <p:nvPr/>
        </p:nvSpPr>
        <p:spPr>
          <a:xfrm>
            <a:off x="4983480" y="1216152"/>
            <a:ext cx="374904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Low R² (~0.10) — weak feature-target relationship</a:t>
            </a:r>
            <a:endParaRPr lang="en-US" sz="1150" dirty="0"/>
          </a:p>
        </p:txBody>
      </p:sp>
      <p:sp>
        <p:nvSpPr>
          <p:cNvPr id="20" name="Shape 18"/>
          <p:cNvSpPr/>
          <p:nvPr/>
        </p:nvSpPr>
        <p:spPr>
          <a:xfrm>
            <a:off x="4754880" y="1682496"/>
            <a:ext cx="155448" cy="155448"/>
          </a:xfrm>
          <a:prstGeom prst="ellipse">
            <a:avLst/>
          </a:prstGeom>
          <a:solidFill>
            <a:srgbClr val="E53935"/>
          </a:solidFill>
          <a:ln/>
        </p:spPr>
      </p:sp>
      <p:sp>
        <p:nvSpPr>
          <p:cNvPr id="21" name="Text 19"/>
          <p:cNvSpPr/>
          <p:nvPr/>
        </p:nvSpPr>
        <p:spPr>
          <a:xfrm>
            <a:off x="4983480" y="1636776"/>
            <a:ext cx="374904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Local search is not globally optimal</a:t>
            </a:r>
            <a:endParaRPr lang="en-US" sz="1150" dirty="0"/>
          </a:p>
        </p:txBody>
      </p:sp>
      <p:sp>
        <p:nvSpPr>
          <p:cNvPr id="22" name="Shape 20"/>
          <p:cNvSpPr/>
          <p:nvPr/>
        </p:nvSpPr>
        <p:spPr>
          <a:xfrm>
            <a:off x="4754880" y="2103120"/>
            <a:ext cx="155448" cy="155448"/>
          </a:xfrm>
          <a:prstGeom prst="ellipse">
            <a:avLst/>
          </a:prstGeom>
          <a:solidFill>
            <a:srgbClr val="E53935"/>
          </a:solidFill>
          <a:ln/>
        </p:spPr>
      </p:sp>
      <p:sp>
        <p:nvSpPr>
          <p:cNvPr id="23" name="Text 21"/>
          <p:cNvSpPr/>
          <p:nvPr/>
        </p:nvSpPr>
        <p:spPr>
          <a:xfrm>
            <a:off x="4983480" y="2057400"/>
            <a:ext cx="374904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Dataset class imbalance not fully addressed</a:t>
            </a:r>
            <a:endParaRPr lang="en-US" sz="1150" dirty="0"/>
          </a:p>
        </p:txBody>
      </p:sp>
      <p:sp>
        <p:nvSpPr>
          <p:cNvPr id="24" name="Shape 22"/>
          <p:cNvSpPr/>
          <p:nvPr/>
        </p:nvSpPr>
        <p:spPr>
          <a:xfrm>
            <a:off x="4754880" y="2523744"/>
            <a:ext cx="155448" cy="155448"/>
          </a:xfrm>
          <a:prstGeom prst="ellipse">
            <a:avLst/>
          </a:prstGeom>
          <a:solidFill>
            <a:srgbClr val="E53935"/>
          </a:solidFill>
          <a:ln/>
        </p:spPr>
      </p:sp>
      <p:sp>
        <p:nvSpPr>
          <p:cNvPr id="25" name="Text 23"/>
          <p:cNvSpPr/>
          <p:nvPr/>
        </p:nvSpPr>
        <p:spPr>
          <a:xfrm>
            <a:off x="4983480" y="2478024"/>
            <a:ext cx="3749040" cy="34747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No branch-and-bound (from full SHERLOCK paper)</a:t>
            </a:r>
            <a:endParaRPr lang="en-US" sz="1150" dirty="0"/>
          </a:p>
        </p:txBody>
      </p:sp>
      <p:sp>
        <p:nvSpPr>
          <p:cNvPr id="26" name="Shape 24"/>
          <p:cNvSpPr/>
          <p:nvPr/>
        </p:nvSpPr>
        <p:spPr>
          <a:xfrm>
            <a:off x="274320" y="3154680"/>
            <a:ext cx="8595360" cy="1737360"/>
          </a:xfrm>
          <a:prstGeom prst="rect">
            <a:avLst/>
          </a:prstGeom>
          <a:solidFill>
            <a:srgbClr val="E3F0FF"/>
          </a:solidFill>
          <a:ln/>
        </p:spPr>
      </p:sp>
      <p:sp>
        <p:nvSpPr>
          <p:cNvPr id="27" name="Text 25"/>
          <p:cNvSpPr/>
          <p:nvPr/>
        </p:nvSpPr>
        <p:spPr>
          <a:xfrm>
            <a:off x="457200" y="3218688"/>
            <a:ext cx="8229600" cy="292608"/>
          </a:xfrm>
          <a:prstGeom prst="rect">
            <a:avLst/>
          </a:prstGeom>
          <a:noFill/>
          <a:ln/>
        </p:spPr>
        <p:txBody>
          <a:bodyPr wrap="square" rtlCol="0" anchor="ctr"/>
          <a:lstStyle/>
          <a:p>
            <a:pPr marL="0" indent="0">
              <a:buNone/>
            </a:pPr>
            <a:r>
              <a:rPr lang="en-US" sz="1400" b="1" dirty="0">
                <a:solidFill>
                  <a:srgbClr val="0A2342"/>
                </a:solidFill>
                <a:latin typeface="Calibri" pitchFamily="34" charset="0"/>
                <a:ea typeface="Calibri" pitchFamily="34" charset="-122"/>
                <a:cs typeface="Calibri" pitchFamily="34" charset="-120"/>
              </a:rPr>
              <a:t>Future Work</a:t>
            </a:r>
            <a:endParaRPr lang="en-US" sz="1400" dirty="0"/>
          </a:p>
        </p:txBody>
      </p:sp>
      <p:sp>
        <p:nvSpPr>
          <p:cNvPr id="28" name="Shape 26"/>
          <p:cNvSpPr/>
          <p:nvPr/>
        </p:nvSpPr>
        <p:spPr>
          <a:xfrm>
            <a:off x="365760" y="3630168"/>
            <a:ext cx="155448" cy="155448"/>
          </a:xfrm>
          <a:prstGeom prst="ellipse">
            <a:avLst/>
          </a:prstGeom>
          <a:solidFill>
            <a:srgbClr val="1565C0"/>
          </a:solidFill>
          <a:ln/>
        </p:spPr>
      </p:sp>
      <p:sp>
        <p:nvSpPr>
          <p:cNvPr id="29" name="Text 27"/>
          <p:cNvSpPr/>
          <p:nvPr/>
        </p:nvSpPr>
        <p:spPr>
          <a:xfrm>
            <a:off x="594360" y="3593592"/>
            <a:ext cx="3931920" cy="41148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Feature engineering to improve R² and accuracy</a:t>
            </a:r>
            <a:endParaRPr lang="en-US" sz="1150" dirty="0"/>
          </a:p>
        </p:txBody>
      </p:sp>
      <p:sp>
        <p:nvSpPr>
          <p:cNvPr id="30" name="Shape 28"/>
          <p:cNvSpPr/>
          <p:nvPr/>
        </p:nvSpPr>
        <p:spPr>
          <a:xfrm>
            <a:off x="365760" y="4133088"/>
            <a:ext cx="155448" cy="155448"/>
          </a:xfrm>
          <a:prstGeom prst="ellipse">
            <a:avLst/>
          </a:prstGeom>
          <a:solidFill>
            <a:srgbClr val="1565C0"/>
          </a:solidFill>
          <a:ln/>
        </p:spPr>
      </p:sp>
      <p:sp>
        <p:nvSpPr>
          <p:cNvPr id="31" name="Text 29"/>
          <p:cNvSpPr/>
          <p:nvPr/>
        </p:nvSpPr>
        <p:spPr>
          <a:xfrm>
            <a:off x="594360" y="4096512"/>
            <a:ext cx="3931920" cy="41148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SMOTE or class-weighting to handle imbalance</a:t>
            </a:r>
            <a:endParaRPr lang="en-US" sz="1150" dirty="0"/>
          </a:p>
        </p:txBody>
      </p:sp>
      <p:sp>
        <p:nvSpPr>
          <p:cNvPr id="32" name="Shape 30"/>
          <p:cNvSpPr/>
          <p:nvPr/>
        </p:nvSpPr>
        <p:spPr>
          <a:xfrm>
            <a:off x="4754880" y="3630168"/>
            <a:ext cx="155448" cy="155448"/>
          </a:xfrm>
          <a:prstGeom prst="ellipse">
            <a:avLst/>
          </a:prstGeom>
          <a:solidFill>
            <a:srgbClr val="1565C0"/>
          </a:solidFill>
          <a:ln/>
        </p:spPr>
      </p:sp>
      <p:sp>
        <p:nvSpPr>
          <p:cNvPr id="33" name="Text 31"/>
          <p:cNvSpPr/>
          <p:nvPr/>
        </p:nvSpPr>
        <p:spPr>
          <a:xfrm>
            <a:off x="4983480" y="3593592"/>
            <a:ext cx="3931920" cy="41148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Implement full branch-and-bound for global guarantees (MILP-based verification)</a:t>
            </a:r>
            <a:endParaRPr lang="en-US" sz="1150" dirty="0"/>
          </a:p>
        </p:txBody>
      </p:sp>
      <p:sp>
        <p:nvSpPr>
          <p:cNvPr id="34" name="Shape 32"/>
          <p:cNvSpPr/>
          <p:nvPr/>
        </p:nvSpPr>
        <p:spPr>
          <a:xfrm>
            <a:off x="4754880" y="4133088"/>
            <a:ext cx="155448" cy="155448"/>
          </a:xfrm>
          <a:prstGeom prst="ellipse">
            <a:avLst/>
          </a:prstGeom>
          <a:solidFill>
            <a:srgbClr val="1565C0"/>
          </a:solidFill>
          <a:ln/>
        </p:spPr>
      </p:sp>
      <p:sp>
        <p:nvSpPr>
          <p:cNvPr id="35" name="Text 33"/>
          <p:cNvSpPr/>
          <p:nvPr/>
        </p:nvSpPr>
        <p:spPr>
          <a:xfrm>
            <a:off x="4983480" y="4096512"/>
            <a:ext cx="3931920" cy="41148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Try larger networks and compare safety bounds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565C0"/>
          </a:solidFill>
          <a:ln/>
        </p:spPr>
      </p:sp>
      <p:sp>
        <p:nvSpPr>
          <p:cNvPr id="3" name="Shape 1"/>
          <p:cNvSpPr/>
          <p:nvPr/>
        </p:nvSpPr>
        <p:spPr>
          <a:xfrm>
            <a:off x="8915400" y="0"/>
            <a:ext cx="228600" cy="5143500"/>
          </a:xfrm>
          <a:prstGeom prst="rect">
            <a:avLst/>
          </a:prstGeom>
          <a:solidFill>
            <a:srgbClr val="1565C0"/>
          </a:solidFill>
          <a:ln/>
        </p:spPr>
      </p:sp>
      <p:sp>
        <p:nvSpPr>
          <p:cNvPr id="4" name="Text 2"/>
          <p:cNvSpPr/>
          <p:nvPr/>
        </p:nvSpPr>
        <p:spPr>
          <a:xfrm>
            <a:off x="914400" y="1097280"/>
            <a:ext cx="7315200" cy="1280160"/>
          </a:xfrm>
          <a:prstGeom prst="rect">
            <a:avLst/>
          </a:prstGeom>
          <a:noFill/>
          <a:ln/>
        </p:spPr>
        <p:txBody>
          <a:bodyPr wrap="square"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5" name="Shape 3"/>
          <p:cNvSpPr/>
          <p:nvPr/>
        </p:nvSpPr>
        <p:spPr>
          <a:xfrm>
            <a:off x="2743200" y="2560320"/>
            <a:ext cx="3657600" cy="0"/>
          </a:xfrm>
          <a:prstGeom prst="line">
            <a:avLst/>
          </a:prstGeom>
          <a:noFill/>
          <a:ln w="38100">
            <a:solidFill>
              <a:srgbClr val="1565C0"/>
            </a:solidFill>
            <a:prstDash val="solid"/>
          </a:ln>
        </p:spPr>
      </p:sp>
      <p:sp>
        <p:nvSpPr>
          <p:cNvPr id="6" name="Text 4"/>
          <p:cNvSpPr/>
          <p:nvPr/>
        </p:nvSpPr>
        <p:spPr>
          <a:xfrm>
            <a:off x="914400" y="2743200"/>
            <a:ext cx="7315200" cy="594360"/>
          </a:xfrm>
          <a:prstGeom prst="rect">
            <a:avLst/>
          </a:prstGeom>
          <a:noFill/>
          <a:ln/>
        </p:spPr>
        <p:txBody>
          <a:bodyPr wrap="square" rtlCol="0" anchor="ctr"/>
          <a:lstStyle/>
          <a:p>
            <a:pPr marL="0" indent="0" algn="ctr">
              <a:buNone/>
            </a:pPr>
            <a:r>
              <a:rPr lang="en-US" sz="1400" dirty="0">
                <a:solidFill>
                  <a:srgbClr val="90CAF9"/>
                </a:solidFill>
                <a:latin typeface="Calibri" pitchFamily="34" charset="0"/>
                <a:ea typeface="Calibri" pitchFamily="34" charset="-122"/>
                <a:cs typeface="Calibri" pitchFamily="34" charset="-120"/>
              </a:rPr>
              <a:t>Water Potability Prediction using Neural Networks &amp; SHERLOCK Safety Verification</a:t>
            </a:r>
            <a:endParaRPr lang="en-US" sz="1400" dirty="0"/>
          </a:p>
        </p:txBody>
      </p:sp>
      <p:sp>
        <p:nvSpPr>
          <p:cNvPr id="7" name="Text 5"/>
          <p:cNvSpPr/>
          <p:nvPr/>
        </p:nvSpPr>
        <p:spPr>
          <a:xfrm>
            <a:off x="914400" y="3474720"/>
            <a:ext cx="7315200" cy="365760"/>
          </a:xfrm>
          <a:prstGeom prst="rect">
            <a:avLst/>
          </a:prstGeom>
          <a:noFill/>
          <a:ln/>
        </p:spPr>
        <p:txBody>
          <a:bodyPr wrap="square" rtlCol="0" anchor="ctr"/>
          <a:lstStyle/>
          <a:p>
            <a:pPr marL="0" indent="0" algn="ctr">
              <a:buNone/>
            </a:pPr>
            <a:r>
              <a:rPr lang="en-US" sz="1300" dirty="0">
                <a:solidFill>
                  <a:srgbClr val="78909C"/>
                </a:solidFill>
                <a:latin typeface="Calibri" pitchFamily="34" charset="0"/>
                <a:ea typeface="Calibri" pitchFamily="34" charset="-122"/>
                <a:cs typeface="Calibri" pitchFamily="34" charset="-120"/>
              </a:rPr>
              <a:t>Syed Mubeen Ali  |  Muhammad Hasan Kashif  |  Muhammad Munawwar Khan</a:t>
            </a:r>
            <a:endParaRPr lang="en-US" sz="1300" dirty="0"/>
          </a:p>
        </p:txBody>
      </p:sp>
      <p:sp>
        <p:nvSpPr>
          <p:cNvPr id="8" name="Text 6"/>
          <p:cNvSpPr/>
          <p:nvPr/>
        </p:nvSpPr>
        <p:spPr>
          <a:xfrm>
            <a:off x="914400" y="3931920"/>
            <a:ext cx="7315200" cy="320040"/>
          </a:xfrm>
          <a:prstGeom prst="rect">
            <a:avLst/>
          </a:prstGeom>
          <a:noFill/>
          <a:ln/>
        </p:spPr>
        <p:txBody>
          <a:bodyPr wrap="square" rtlCol="0" anchor="ctr"/>
          <a:lstStyle/>
          <a:p>
            <a:pPr marL="0" indent="0" algn="ctr">
              <a:buNone/>
            </a:pPr>
            <a:r>
              <a:rPr lang="en-US" sz="1100" dirty="0">
                <a:solidFill>
                  <a:srgbClr val="546E7A"/>
                </a:solidFill>
                <a:latin typeface="Calibri" pitchFamily="34" charset="0"/>
                <a:ea typeface="Calibri" pitchFamily="34" charset="-122"/>
                <a:cs typeface="Calibri" pitchFamily="34" charset="-120"/>
              </a:rPr>
              <a:t>Machine Learning (CT-354)  —  Complex Computing Problem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1283</Words>
  <Application>Microsoft Office PowerPoint</Application>
  <PresentationFormat>On-screen Show (16:9)</PresentationFormat>
  <Paragraphs>221</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Potability Prediction</dc:title>
  <dc:subject>PptxGenJS Presentation</dc:subject>
  <dc:creator>PptxGenJS</dc:creator>
  <cp:lastModifiedBy>Muhammad Hasan Kashif</cp:lastModifiedBy>
  <cp:revision>2</cp:revision>
  <dcterms:created xsi:type="dcterms:W3CDTF">2026-04-23T19:24:51Z</dcterms:created>
  <dcterms:modified xsi:type="dcterms:W3CDTF">2026-04-24T13:25:04Z</dcterms:modified>
</cp:coreProperties>
</file>